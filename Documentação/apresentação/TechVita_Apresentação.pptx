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3" r:id="rId8"/>
    <p:sldId id="261" r:id="rId9"/>
    <p:sldId id="268" r:id="rId10"/>
    <p:sldId id="288" r:id="rId11"/>
    <p:sldId id="289" r:id="rId12"/>
    <p:sldId id="281" r:id="rId13"/>
    <p:sldId id="286" r:id="rId14"/>
    <p:sldId id="285" r:id="rId15"/>
    <p:sldId id="284" r:id="rId16"/>
    <p:sldId id="283" r:id="rId17"/>
    <p:sldId id="290" r:id="rId18"/>
    <p:sldId id="270" r:id="rId19"/>
    <p:sldId id="276" r:id="rId20"/>
  </p:sldIdLst>
  <p:sldSz cx="18288000" cy="10287000"/>
  <p:notesSz cx="6858000" cy="9144000"/>
  <p:embeddedFontLst>
    <p:embeddedFont>
      <p:font typeface="Decalotype Bold" panose="020B0604020202020204" charset="0"/>
      <p:regular r:id="rId21"/>
    </p:embeddedFont>
    <p:embeddedFont>
      <p:font typeface="Public San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B33"/>
    <a:srgbClr val="066ED6"/>
    <a:srgbClr val="2658E0"/>
    <a:srgbClr val="363CB3"/>
    <a:srgbClr val="052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18A81-512A-475A-DAC9-F3898ECC0F9B}" v="41" dt="2026-04-23T22:23:28.802"/>
    <p1510:client id="{7B189E07-E11D-4AF4-AE65-DA38DE57F41E}" v="50" dt="2026-04-23T17:44:36.831"/>
    <p1510:client id="{B486B05F-DE0E-31A9-F6D3-67FA51465410}" v="104" dt="2026-04-23T18:25:02.452"/>
    <p1510:client id="{F3E3B196-FB2B-36CB-6AB4-815EFBC41220}" v="5" dt="2026-04-23T12:52:48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7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64"/>
            <a:ext cx="11489055" cy="7052907"/>
          </a:xfrm>
          <a:custGeom>
            <a:avLst/>
            <a:gdLst/>
            <a:ahLst/>
            <a:cxnLst/>
            <a:rect l="l" t="t" r="r" b="b"/>
            <a:pathLst>
              <a:path w="11489055" h="7052907">
                <a:moveTo>
                  <a:pt x="0" y="0"/>
                </a:moveTo>
                <a:lnTo>
                  <a:pt x="11489055" y="0"/>
                </a:lnTo>
                <a:lnTo>
                  <a:pt x="11489055" y="7052906"/>
                </a:lnTo>
                <a:lnTo>
                  <a:pt x="0" y="7052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19" b="-4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2504656">
            <a:off x="5773080" y="-153655"/>
            <a:ext cx="15921804" cy="1278862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5400000">
            <a:off x="-710317" y="-1134366"/>
            <a:ext cx="4716515" cy="5154662"/>
            <a:chOff x="0" y="0"/>
            <a:chExt cx="6869494" cy="7507644"/>
          </a:xfrm>
          <a:solidFill>
            <a:srgbClr val="EA4B33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6869494" cy="7507645"/>
            </a:xfrm>
            <a:custGeom>
              <a:avLst/>
              <a:gdLst/>
              <a:ahLst/>
              <a:cxnLst/>
              <a:rect l="l" t="t" r="r" b="b"/>
              <a:pathLst>
                <a:path w="6869494" h="7507645">
                  <a:moveTo>
                    <a:pt x="6869494" y="7507645"/>
                  </a:moveTo>
                  <a:lnTo>
                    <a:pt x="0" y="7507645"/>
                  </a:lnTo>
                  <a:lnTo>
                    <a:pt x="0" y="0"/>
                  </a:lnTo>
                  <a:lnTo>
                    <a:pt x="6869494" y="750764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898932" cy="10287000"/>
            <a:chOff x="0" y="0"/>
            <a:chExt cx="8851059" cy="115269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51059" cy="11526982"/>
            </a:xfrm>
            <a:custGeom>
              <a:avLst/>
              <a:gdLst/>
              <a:ahLst/>
              <a:cxnLst/>
              <a:rect l="l" t="t" r="r" b="b"/>
              <a:pathLst>
                <a:path w="8851059" h="11526982">
                  <a:moveTo>
                    <a:pt x="8851059" y="11526982"/>
                  </a:moveTo>
                  <a:lnTo>
                    <a:pt x="0" y="11526982"/>
                  </a:lnTo>
                  <a:lnTo>
                    <a:pt x="0" y="0"/>
                  </a:lnTo>
                  <a:lnTo>
                    <a:pt x="8851059" y="11526982"/>
                  </a:lnTo>
                  <a:close/>
                </a:path>
              </a:pathLst>
            </a:custGeom>
            <a:solidFill>
              <a:srgbClr val="066ED6"/>
            </a:solidFill>
          </p:spPr>
          <p:txBody>
            <a:bodyPr lIns="91440" tIns="45720" rIns="91440" bIns="45720" anchor="t"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17611" y="5899679"/>
            <a:ext cx="8741689" cy="2061590"/>
            <a:chOff x="0" y="1419225"/>
            <a:chExt cx="11655585" cy="2748786"/>
          </a:xfrm>
        </p:grpSpPr>
        <p:sp>
          <p:nvSpPr>
            <p:cNvPr id="9" name="TextBox 9"/>
            <p:cNvSpPr txBox="1"/>
            <p:nvPr/>
          </p:nvSpPr>
          <p:spPr>
            <a:xfrm>
              <a:off x="0" y="1419225"/>
              <a:ext cx="11655585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825"/>
                </a:lnSpc>
              </a:pPr>
              <a:r>
                <a:rPr lang="en-US" sz="9000" b="1" u="none" err="1">
                  <a:solidFill>
                    <a:srgbClr val="191919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ThermoTrack</a:t>
              </a:r>
              <a:endParaRPr lang="en-US" sz="9000" b="1" u="none">
                <a:solidFill>
                  <a:srgbClr val="191919"/>
                </a:solidFill>
                <a:latin typeface="Decalotype Bold"/>
                <a:ea typeface="Decalotype Bold"/>
                <a:cs typeface="Decalotype Bold"/>
                <a:sym typeface="Decalotype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923910"/>
              <a:ext cx="11655585" cy="12441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814"/>
                </a:lnSpc>
              </a:pP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Sistema de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Monitoramento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Contínuo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de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Temperatura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em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Unidades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de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Terapia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Intensiva</a:t>
              </a:r>
              <a:endParaRPr lang="en-US" sz="2724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465A5F5-BBC0-18E4-7888-3E4BB61EA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82" y="7961269"/>
            <a:ext cx="4950797" cy="16175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15521965">
            <a:off x="-5355263" y="94781"/>
            <a:ext cx="13593765" cy="1009743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4428958"/>
            <a:ext cx="7040602" cy="1890554"/>
            <a:chOff x="0" y="479440"/>
            <a:chExt cx="9387470" cy="2520739"/>
          </a:xfrm>
        </p:grpSpPr>
        <p:sp>
          <p:nvSpPr>
            <p:cNvPr id="4" name="TextBox 4"/>
            <p:cNvSpPr txBox="1"/>
            <p:nvPr/>
          </p:nvSpPr>
          <p:spPr>
            <a:xfrm>
              <a:off x="205941" y="479440"/>
              <a:ext cx="9181529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b="1" u="none" dirty="0">
                  <a:solidFill>
                    <a:srgbClr val="066ED6"/>
                  </a:solidFill>
                  <a:latin typeface="Decalotype Bold"/>
                  <a:ea typeface="Decalotype Bold"/>
                  <a:cs typeface="Decalotype Bold"/>
                </a:rPr>
                <a:t>INTEGRANTES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17766"/>
              <a:ext cx="9181529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endParaRPr lang="en-US" sz="3200" u="none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195058" y="3666171"/>
            <a:ext cx="1078403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ublic Sans" panose="020B0604020202020204" charset="0"/>
              </a:rPr>
              <a:t>Andressa </a:t>
            </a:r>
            <a:r>
              <a:rPr lang="en-US" sz="3200" dirty="0" err="1">
                <a:solidFill>
                  <a:schemeClr val="bg1"/>
                </a:solidFill>
                <a:latin typeface="Public Sans" panose="020B0604020202020204" charset="0"/>
              </a:rPr>
              <a:t>Lustro</a:t>
            </a:r>
            <a:r>
              <a:rPr lang="en-US" sz="3200" dirty="0">
                <a:solidFill>
                  <a:schemeClr val="bg1"/>
                </a:solidFill>
                <a:latin typeface="Public Sans" panose="020B0604020202020204" charset="0"/>
              </a:rPr>
              <a:t> Lima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ublic Sans" panose="020B0604020202020204" charset="0"/>
              </a:rPr>
              <a:t>Gabriel Ortiz Dos Anjos </a:t>
            </a:r>
            <a:r>
              <a:rPr lang="en-US" sz="3200" dirty="0" err="1">
                <a:solidFill>
                  <a:schemeClr val="bg1"/>
                </a:solidFill>
                <a:latin typeface="Public Sans" panose="020B0604020202020204" charset="0"/>
              </a:rPr>
              <a:t>Marsura</a:t>
            </a:r>
            <a:endParaRPr lang="en-US" sz="3200" dirty="0">
              <a:solidFill>
                <a:schemeClr val="bg1"/>
              </a:solidFill>
              <a:latin typeface="Public Sans" panose="020B060402020202020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ublic Sans" panose="020B0604020202020204" charset="0"/>
              </a:rPr>
              <a:t>Gustavo de Souza Assis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ublic Sans" panose="020B0604020202020204" charset="0"/>
              </a:rPr>
              <a:t>Leandro Bezerra Mendes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ublic Sans" panose="020B0604020202020204" charset="0"/>
              </a:rPr>
              <a:t>Tawan Lander Da Fonseca Rodrigues De Paula Moura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Public Sans" panose="020B0604020202020204" charset="0"/>
              </a:rPr>
              <a:t>Vínicius</a:t>
            </a:r>
            <a:r>
              <a:rPr lang="en-US" sz="3200" dirty="0">
                <a:solidFill>
                  <a:schemeClr val="bg1"/>
                </a:solidFill>
                <a:latin typeface="Public Sans" panose="020B0604020202020204" charset="0"/>
              </a:rPr>
              <a:t> Guimarães Menezes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BDAB5E-F11E-B703-4C11-399B33ECBD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025" y="524512"/>
            <a:ext cx="2182529" cy="713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20831"/>
            <a:ext cx="8716862" cy="3118326"/>
            <a:chOff x="0" y="209551"/>
            <a:chExt cx="11622483" cy="4181202"/>
          </a:xfrm>
        </p:grpSpPr>
        <p:sp>
          <p:nvSpPr>
            <p:cNvPr id="3" name="TextBox 3"/>
            <p:cNvSpPr txBox="1"/>
            <p:nvPr/>
          </p:nvSpPr>
          <p:spPr>
            <a:xfrm>
              <a:off x="0" y="209551"/>
              <a:ext cx="11622483" cy="3601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100"/>
                </a:lnSpc>
              </a:pPr>
              <a:r>
                <a:rPr lang="en-US" sz="8000" b="1" u="none" dirty="0">
                  <a:solidFill>
                    <a:srgbClr val="FFFFFF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SEGUIMENTO DE</a:t>
              </a:r>
            </a:p>
            <a:p>
              <a:pPr marL="0" lvl="0" indent="0" algn="l">
                <a:lnSpc>
                  <a:spcPts val="111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MERCADO</a:t>
              </a:r>
              <a:endParaRPr lang="en-US" sz="8000" b="1" u="none" dirty="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708340"/>
              <a:ext cx="9173818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3200" u="none" err="1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Saúde</a:t>
              </a:r>
              <a:r>
                <a:rPr lang="en-US" sz="3200" u="non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Digital (HealthTech)</a:t>
              </a:r>
            </a:p>
          </p:txBody>
        </p:sp>
      </p:grpSp>
      <p:sp>
        <p:nvSpPr>
          <p:cNvPr id="10" name="Retângulo 9">
            <a:extLst>
              <a:ext uri="{FF2B5EF4-FFF2-40B4-BE49-F238E27FC236}">
                <a16:creationId xmlns:a16="http://schemas.microsoft.com/office/drawing/2014/main" id="{19348D1E-0458-BA77-23D2-52AE93ADC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0" y="-62078"/>
            <a:ext cx="9143999" cy="10351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D7C9DC3-EA91-E933-05BF-4D1538EB2A89}"/>
              </a:ext>
            </a:extLst>
          </p:cNvPr>
          <p:cNvSpPr txBox="1"/>
          <p:nvPr/>
        </p:nvSpPr>
        <p:spPr>
          <a:xfrm>
            <a:off x="9334499" y="2336952"/>
            <a:ext cx="8763000" cy="64940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latin typeface="Public Sans" panose="020B0604020202020204" charset="0"/>
              </a:rPr>
              <a:t>	A </a:t>
            </a:r>
            <a:r>
              <a:rPr lang="en-US" sz="3200" dirty="0" err="1">
                <a:latin typeface="Public Sans" panose="020B0604020202020204" charset="0"/>
              </a:rPr>
              <a:t>TechVita</a:t>
            </a:r>
            <a:r>
              <a:rPr lang="en-US" sz="3200" dirty="0">
                <a:latin typeface="Public Sans" panose="020B0604020202020204" charset="0"/>
              </a:rPr>
              <a:t> é </a:t>
            </a:r>
            <a:r>
              <a:rPr lang="en-US" sz="3200" dirty="0" err="1">
                <a:latin typeface="Public Sans" panose="020B0604020202020204" charset="0"/>
              </a:rPr>
              <a:t>uma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empresa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que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busca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inovar</a:t>
            </a:r>
            <a:r>
              <a:rPr lang="en-US" sz="3200" dirty="0">
                <a:latin typeface="Public Sans" panose="020B0604020202020204" charset="0"/>
              </a:rPr>
              <a:t> no </a:t>
            </a:r>
            <a:r>
              <a:rPr lang="en-US" sz="3200" dirty="0" err="1">
                <a:latin typeface="Public Sans" panose="020B0604020202020204" charset="0"/>
              </a:rPr>
              <a:t>setor</a:t>
            </a:r>
            <a:r>
              <a:rPr lang="en-US" sz="3200" dirty="0">
                <a:latin typeface="Public Sans" panose="020B0604020202020204" charset="0"/>
              </a:rPr>
              <a:t> da </a:t>
            </a:r>
            <a:r>
              <a:rPr lang="en-US" sz="3200" dirty="0" err="1">
                <a:latin typeface="Public Sans" panose="020B0604020202020204" charset="0"/>
              </a:rPr>
              <a:t>saúde</a:t>
            </a:r>
            <a:r>
              <a:rPr lang="en-US" sz="3200" dirty="0">
                <a:latin typeface="Public Sans" panose="020B0604020202020204" charset="0"/>
              </a:rPr>
              <a:t>, com </a:t>
            </a:r>
            <a:r>
              <a:rPr lang="en-US" sz="3200" dirty="0" err="1">
                <a:latin typeface="Public Sans" panose="020B0604020202020204" charset="0"/>
              </a:rPr>
              <a:t>foco</a:t>
            </a:r>
            <a:r>
              <a:rPr lang="en-US" sz="3200" dirty="0">
                <a:latin typeface="Public Sans" panose="020B0604020202020204" charset="0"/>
              </a:rPr>
              <a:t> no </a:t>
            </a:r>
            <a:r>
              <a:rPr lang="en-US" sz="3200" dirty="0" err="1">
                <a:latin typeface="Public Sans" panose="020B0604020202020204" charset="0"/>
              </a:rPr>
              <a:t>desenvolvimento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soluções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tecnológicas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que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ajudam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salvar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vidas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auxiliando</a:t>
            </a:r>
            <a:r>
              <a:rPr lang="en-US" sz="3200" dirty="0">
                <a:latin typeface="Public Sans" panose="020B0604020202020204" charset="0"/>
              </a:rPr>
              <a:t> no </a:t>
            </a:r>
            <a:r>
              <a:rPr lang="en-US" sz="3200" dirty="0" err="1">
                <a:latin typeface="Public Sans" panose="020B0604020202020204" charset="0"/>
              </a:rPr>
              <a:t>dia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dia</a:t>
            </a:r>
            <a:r>
              <a:rPr lang="en-US" sz="3200" dirty="0">
                <a:latin typeface="Public Sans" panose="020B0604020202020204" charset="0"/>
              </a:rPr>
              <a:t> dos </a:t>
            </a:r>
            <a:r>
              <a:rPr lang="en-US" sz="3200" dirty="0" err="1">
                <a:latin typeface="Public Sans" panose="020B0604020202020204" charset="0"/>
              </a:rPr>
              <a:t>funcionários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hospitais</a:t>
            </a:r>
            <a:r>
              <a:rPr lang="en-US" sz="3200" dirty="0">
                <a:latin typeface="Public Sans" panose="020B0604020202020204" charset="0"/>
              </a:rPr>
              <a:t> privados de </a:t>
            </a:r>
            <a:r>
              <a:rPr lang="en-US" sz="3200" dirty="0" err="1">
                <a:latin typeface="Public Sans" panose="020B0604020202020204" charset="0"/>
              </a:rPr>
              <a:t>pequeno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médio</a:t>
            </a:r>
            <a:r>
              <a:rPr lang="en-US" sz="3200" dirty="0">
                <a:latin typeface="Public Sans" panose="020B0604020202020204" charset="0"/>
              </a:rPr>
              <a:t> e grande </a:t>
            </a:r>
            <a:r>
              <a:rPr lang="en-US" sz="3200" dirty="0" err="1">
                <a:latin typeface="Public Sans" panose="020B0604020202020204" charset="0"/>
              </a:rPr>
              <a:t>porte</a:t>
            </a:r>
            <a:r>
              <a:rPr lang="en-US" sz="3200" dirty="0">
                <a:latin typeface="Public Sans" panose="020B0604020202020204" charset="0"/>
              </a:rPr>
              <a:t>.</a:t>
            </a:r>
          </a:p>
          <a:p>
            <a:endParaRPr lang="en-US" sz="3200" dirty="0">
              <a:latin typeface="Public Sans" panose="020B0604020202020204" charset="0"/>
            </a:endParaRPr>
          </a:p>
          <a:p>
            <a:r>
              <a:rPr lang="en-US" sz="3200" dirty="0">
                <a:latin typeface="Public Sans" panose="020B0604020202020204" charset="0"/>
              </a:rPr>
              <a:t>	</a:t>
            </a:r>
            <a:r>
              <a:rPr lang="en-US" sz="3200" dirty="0" err="1">
                <a:latin typeface="Public Sans" panose="020B0604020202020204" charset="0"/>
              </a:rPr>
              <a:t>Oferecemos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uma</a:t>
            </a:r>
            <a:r>
              <a:rPr lang="en-US" sz="3200" dirty="0">
                <a:latin typeface="Public Sans" panose="020B0604020202020204" charset="0"/>
              </a:rPr>
              <a:t> forma </a:t>
            </a:r>
            <a:r>
              <a:rPr lang="en-US" sz="3200" dirty="0" err="1">
                <a:latin typeface="Public Sans" panose="020B0604020202020204" charset="0"/>
              </a:rPr>
              <a:t>simplificada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visualização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métricas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permitindo</a:t>
            </a:r>
            <a:r>
              <a:rPr lang="en-US" sz="3200" dirty="0">
                <a:latin typeface="Public Sans" panose="020B0604020202020204" charset="0"/>
              </a:rPr>
              <a:t> um </a:t>
            </a:r>
            <a:r>
              <a:rPr lang="en-US" sz="3200" dirty="0" err="1">
                <a:latin typeface="Public Sans" panose="020B0604020202020204" charset="0"/>
              </a:rPr>
              <a:t>acompanhamento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mais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eficiente</a:t>
            </a:r>
            <a:r>
              <a:rPr lang="en-US" sz="3200" dirty="0">
                <a:latin typeface="Public Sans" panose="020B0604020202020204" charset="0"/>
              </a:rPr>
              <a:t> dos dados. Assim, </a:t>
            </a:r>
            <a:r>
              <a:rPr lang="en-US" sz="3200" dirty="0" err="1">
                <a:latin typeface="Public Sans" panose="020B0604020202020204" charset="0"/>
              </a:rPr>
              <a:t>ajudamos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seu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negócio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obter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melhores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resultados</a:t>
            </a:r>
            <a:r>
              <a:rPr lang="en-US" sz="3200" dirty="0">
                <a:latin typeface="Public Sans" panose="020B0604020202020204" charset="0"/>
              </a:rPr>
              <a:t> com </a:t>
            </a:r>
            <a:r>
              <a:rPr lang="en-US" sz="3200" dirty="0" err="1">
                <a:latin typeface="Public Sans" panose="020B0604020202020204" charset="0"/>
              </a:rPr>
              <a:t>mais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agilidade</a:t>
            </a:r>
            <a:r>
              <a:rPr lang="en-US" sz="3200" dirty="0">
                <a:latin typeface="Public Sans" panose="020B0604020202020204" charset="0"/>
              </a:rPr>
              <a:t> e </a:t>
            </a:r>
            <a:r>
              <a:rPr lang="en-US" sz="3200" dirty="0" err="1">
                <a:latin typeface="Public Sans" panose="020B0604020202020204" charset="0"/>
              </a:rPr>
              <a:t>eficiência</a:t>
            </a:r>
            <a:r>
              <a:rPr lang="en-US" sz="3200" dirty="0">
                <a:latin typeface="Public Sans" panose="020B0604020202020204" charset="0"/>
              </a:rPr>
              <a:t>.</a:t>
            </a:r>
            <a:endParaRPr lang="pt-BR" sz="3200" dirty="0">
              <a:latin typeface="Public Sans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1404A-E652-94E6-C15F-DB2ABD2307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51" y="318035"/>
            <a:ext cx="2182529" cy="71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529060"/>
            <a:ext cx="18288000" cy="777254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2514312"/>
          </a:xfrm>
          <a:custGeom>
            <a:avLst/>
            <a:gdLst/>
            <a:ahLst/>
            <a:cxnLst/>
            <a:rect l="l" t="t" r="r" b="b"/>
            <a:pathLst>
              <a:path w="18288000" h="4114512">
                <a:moveTo>
                  <a:pt x="0" y="0"/>
                </a:moveTo>
                <a:lnTo>
                  <a:pt x="18288000" y="0"/>
                </a:lnTo>
                <a:lnTo>
                  <a:pt x="18288000" y="4114512"/>
                </a:lnTo>
                <a:lnTo>
                  <a:pt x="0" y="4114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51599" b="-144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203473" y="-121739"/>
            <a:ext cx="988105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u="none" dirty="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CONTEXTO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915140" y="1255825"/>
            <a:ext cx="2271122" cy="2271122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52896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98599" y="1255605"/>
            <a:ext cx="2271122" cy="2271122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52896"/>
            </a:solidFill>
          </p:spPr>
          <p:txBody>
            <a:bodyPr lIns="91440" tIns="45720" rIns="91440" bIns="45720" anchor="t"/>
            <a:lstStyle/>
            <a:p>
              <a:endParaRPr lang="en-US">
                <a:solidFill>
                  <a:srgbClr val="066ED6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08437" y="1255825"/>
            <a:ext cx="2271122" cy="2271122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5289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C2A15B4-E1D0-E73D-C506-F13E13D27562}"/>
              </a:ext>
            </a:extLst>
          </p:cNvPr>
          <p:cNvSpPr txBox="1"/>
          <p:nvPr/>
        </p:nvSpPr>
        <p:spPr>
          <a:xfrm>
            <a:off x="2656703" y="3657312"/>
            <a:ext cx="1297458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Public Sans" panose="020B0604020202020204" charset="0"/>
              </a:rPr>
              <a:t>	</a:t>
            </a:r>
            <a:r>
              <a:rPr lang="en-US" sz="3200" dirty="0">
                <a:latin typeface="Public Sans" panose="020B0604020202020204" charset="0"/>
              </a:rPr>
              <a:t>A </a:t>
            </a:r>
            <a:r>
              <a:rPr lang="en-US" sz="3200" dirty="0" err="1">
                <a:latin typeface="Public Sans" panose="020B0604020202020204" charset="0"/>
              </a:rPr>
              <a:t>febre</a:t>
            </a:r>
            <a:r>
              <a:rPr lang="en-US" sz="3200" dirty="0">
                <a:latin typeface="Public Sans" panose="020B0604020202020204" charset="0"/>
              </a:rPr>
              <a:t> é um </a:t>
            </a:r>
            <a:r>
              <a:rPr lang="en-US" sz="3200" dirty="0" err="1">
                <a:latin typeface="Public Sans" panose="020B0604020202020204" charset="0"/>
              </a:rPr>
              <a:t>fenômeno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frequente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nas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Unidades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Terapia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Intensiva</a:t>
            </a:r>
            <a:r>
              <a:rPr lang="en-US" sz="3200" dirty="0">
                <a:latin typeface="Public Sans" panose="020B0604020202020204" charset="0"/>
              </a:rPr>
              <a:t> (UTIs), </a:t>
            </a:r>
            <a:r>
              <a:rPr lang="en-US" sz="3200" dirty="0" err="1">
                <a:latin typeface="Public Sans" panose="020B0604020202020204" charset="0"/>
              </a:rPr>
              <a:t>afetando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mais</a:t>
            </a:r>
            <a:r>
              <a:rPr lang="en-US" sz="3200" dirty="0">
                <a:latin typeface="Public Sans" panose="020B0604020202020204" charset="0"/>
              </a:rPr>
              <a:t> de 50% dos </a:t>
            </a:r>
            <a:r>
              <a:rPr lang="en-US" sz="3200" dirty="0" err="1">
                <a:latin typeface="Public Sans" panose="020B0604020202020204" charset="0"/>
              </a:rPr>
              <a:t>pacientes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críticos</a:t>
            </a:r>
            <a:r>
              <a:rPr lang="en-US" sz="3200" dirty="0">
                <a:latin typeface="Public Sans" panose="020B0604020202020204" charset="0"/>
              </a:rPr>
              <a:t>. </a:t>
            </a:r>
            <a:r>
              <a:rPr lang="en-US" sz="3200" dirty="0" err="1">
                <a:latin typeface="Public Sans" panose="020B0604020202020204" charset="0"/>
              </a:rPr>
              <a:t>Além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disso</a:t>
            </a:r>
            <a:r>
              <a:rPr lang="en-US" sz="3200" dirty="0">
                <a:latin typeface="Public Sans" panose="020B0604020202020204" charset="0"/>
              </a:rPr>
              <a:t>, as </a:t>
            </a:r>
            <a:r>
              <a:rPr lang="en-US" sz="3200" dirty="0" err="1">
                <a:latin typeface="Public Sans" panose="020B0604020202020204" charset="0"/>
              </a:rPr>
              <a:t>alterações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térmicas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estão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diretamente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associadas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piores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desfechos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clínicos</a:t>
            </a:r>
            <a:r>
              <a:rPr lang="en-US" sz="3200" dirty="0">
                <a:latin typeface="Public Sans" panose="020B0604020202020204" charset="0"/>
              </a:rPr>
              <a:t>. </a:t>
            </a:r>
            <a:r>
              <a:rPr lang="en-US" sz="3200" dirty="0" err="1">
                <a:latin typeface="Public Sans" panose="020B0604020202020204" charset="0"/>
              </a:rPr>
              <a:t>Paralelamente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estudos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identificaram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ocorrência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infecções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hospitalares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em</a:t>
            </a:r>
            <a:r>
              <a:rPr lang="en-US" sz="3200" dirty="0">
                <a:latin typeface="Public Sans" panose="020B0604020202020204" charset="0"/>
              </a:rPr>
              <a:t> 66% dos </a:t>
            </a:r>
            <a:r>
              <a:rPr lang="en-US" sz="3200" dirty="0" err="1">
                <a:latin typeface="Public Sans" panose="020B0604020202020204" charset="0"/>
              </a:rPr>
              <a:t>pacientes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avaliados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em</a:t>
            </a:r>
            <a:r>
              <a:rPr lang="en-US" sz="3200" dirty="0">
                <a:latin typeface="Public Sans" panose="020B0604020202020204" charset="0"/>
              </a:rPr>
              <a:t> UTIs, o </a:t>
            </a:r>
            <a:r>
              <a:rPr lang="en-US" sz="3200" dirty="0" err="1">
                <a:latin typeface="Public Sans" panose="020B0604020202020204" charset="0"/>
              </a:rPr>
              <a:t>que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aumenta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significativamente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incidência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febre</a:t>
            </a:r>
            <a:r>
              <a:rPr lang="en-US" sz="3200" dirty="0">
                <a:latin typeface="Public Sans" panose="020B0604020202020204" charset="0"/>
              </a:rPr>
              <a:t> e </a:t>
            </a:r>
            <a:r>
              <a:rPr lang="en-US" sz="3200" dirty="0" err="1">
                <a:latin typeface="Public Sans" panose="020B0604020202020204" charset="0"/>
              </a:rPr>
              <a:t>outras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complicações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clínicas</a:t>
            </a:r>
            <a:r>
              <a:rPr lang="en-US" sz="3200" dirty="0">
                <a:latin typeface="Public Sans" panose="020B0604020202020204" charset="0"/>
              </a:rPr>
              <a:t>.</a:t>
            </a:r>
            <a:endParaRPr lang="pt-BR" sz="3200" dirty="0">
              <a:latin typeface="Public Sans" panose="020B0604020202020204" charset="0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10CF1B47-4FA1-5799-8C38-A24BBAD74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0262" y="1371312"/>
            <a:ext cx="2286000" cy="2286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B47BBF6-D024-91F8-4B0B-83986EFB9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8" y="1476766"/>
            <a:ext cx="1828800" cy="18288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E4397A9-1599-F22D-84B3-2A41840D1D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928" y="1476766"/>
            <a:ext cx="1828800" cy="1828800"/>
          </a:xfrm>
          <a:prstGeom prst="rect">
            <a:avLst/>
          </a:prstGeom>
        </p:spPr>
      </p:pic>
      <p:pic>
        <p:nvPicPr>
          <p:cNvPr id="6" name="Imagem 5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B8C5DE95-4C25-0636-55E3-B18E1E7F2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20" y="9383643"/>
            <a:ext cx="1895752" cy="580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9E6D84-89AB-555A-5605-6DB427B91B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618" y="8536579"/>
            <a:ext cx="2171812" cy="660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D897C9-7C8D-5577-807C-DA76A448E7E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023" y="7962480"/>
            <a:ext cx="1326641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62F77F-C36D-B6E6-F20F-2D33946DC99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748" y="7952396"/>
            <a:ext cx="196546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001000" y="0"/>
            <a:ext cx="10287000" cy="1028700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-16666" r="-166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857500"/>
            <a:ext cx="10401300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5"/>
              </a:lnSpc>
            </a:pPr>
            <a:r>
              <a:rPr lang="en-US" sz="3200" dirty="0">
                <a:latin typeface="Public Sans" panose="020B0604020202020204" charset="0"/>
              </a:rPr>
              <a:t>	O </a:t>
            </a:r>
            <a:r>
              <a:rPr lang="en-US" sz="3200" dirty="0" err="1">
                <a:latin typeface="Public Sans" panose="020B0604020202020204" charset="0"/>
              </a:rPr>
              <a:t>problema</a:t>
            </a:r>
            <a:r>
              <a:rPr lang="en-US" sz="3200" dirty="0">
                <a:latin typeface="Public Sans" panose="020B0604020202020204" charset="0"/>
              </a:rPr>
              <a:t> central </a:t>
            </a:r>
            <a:r>
              <a:rPr lang="en-US" sz="3200" dirty="0" err="1">
                <a:latin typeface="Public Sans" panose="020B0604020202020204" charset="0"/>
              </a:rPr>
              <a:t>que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buscamos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solucionar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está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na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ausência</a:t>
            </a:r>
            <a:r>
              <a:rPr lang="en-US" sz="3200" dirty="0">
                <a:latin typeface="Public Sans" panose="020B0604020202020204" charset="0"/>
              </a:rPr>
              <a:t> de um </a:t>
            </a:r>
            <a:r>
              <a:rPr lang="en-US" sz="3200" dirty="0" err="1">
                <a:latin typeface="Public Sans" panose="020B0604020202020204" charset="0"/>
              </a:rPr>
              <a:t>monitoramento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contínuo</a:t>
            </a:r>
            <a:r>
              <a:rPr lang="en-US" sz="3200" dirty="0">
                <a:latin typeface="Public Sans" panose="020B0604020202020204" charset="0"/>
              </a:rPr>
              <a:t> da </a:t>
            </a:r>
            <a:r>
              <a:rPr lang="en-US" sz="3200" dirty="0" err="1">
                <a:latin typeface="Public Sans" panose="020B0604020202020204" charset="0"/>
              </a:rPr>
              <a:t>temperatura</a:t>
            </a:r>
            <a:r>
              <a:rPr lang="en-US" sz="3200" dirty="0">
                <a:latin typeface="Public Sans" panose="020B0604020202020204" charset="0"/>
              </a:rPr>
              <a:t> dos </a:t>
            </a:r>
            <a:r>
              <a:rPr lang="en-US" sz="3200" dirty="0" err="1">
                <a:latin typeface="Public Sans" panose="020B0604020202020204" charset="0"/>
              </a:rPr>
              <a:t>pacientes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em</a:t>
            </a:r>
            <a:r>
              <a:rPr lang="en-US" sz="3200" dirty="0">
                <a:latin typeface="Public Sans" panose="020B0604020202020204" charset="0"/>
              </a:rPr>
              <a:t> UTIs, </a:t>
            </a:r>
            <a:r>
              <a:rPr lang="en-US" sz="3200" dirty="0" err="1">
                <a:latin typeface="Public Sans" panose="020B0604020202020204" charset="0"/>
              </a:rPr>
              <a:t>que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ainda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depende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em</a:t>
            </a:r>
            <a:r>
              <a:rPr lang="en-US" sz="3200" dirty="0">
                <a:latin typeface="Public Sans" panose="020B0604020202020204" charset="0"/>
              </a:rPr>
              <a:t> grande </a:t>
            </a:r>
            <a:r>
              <a:rPr lang="en-US" sz="3200" dirty="0" err="1">
                <a:latin typeface="Public Sans" panose="020B0604020202020204" charset="0"/>
              </a:rPr>
              <a:t>parte</a:t>
            </a:r>
            <a:r>
              <a:rPr lang="en-US" sz="3200" dirty="0">
                <a:latin typeface="Public Sans" panose="020B0604020202020204" charset="0"/>
              </a:rPr>
              <a:t>, de </a:t>
            </a:r>
            <a:r>
              <a:rPr lang="en-US" sz="3200" dirty="0" err="1">
                <a:latin typeface="Public Sans" panose="020B0604020202020204" charset="0"/>
              </a:rPr>
              <a:t>protocolos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operacionais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realizados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manualmente</a:t>
            </a:r>
            <a:r>
              <a:rPr lang="en-US" sz="3200" dirty="0">
                <a:latin typeface="Public Sans" panose="020B0604020202020204" charset="0"/>
              </a:rPr>
              <a:t>. Essa </a:t>
            </a:r>
            <a:r>
              <a:rPr lang="en-US" sz="3200" dirty="0" err="1">
                <a:latin typeface="Public Sans" panose="020B0604020202020204" charset="0"/>
              </a:rPr>
              <a:t>limitação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somada</a:t>
            </a:r>
            <a:r>
              <a:rPr lang="en-US" sz="3200" dirty="0">
                <a:latin typeface="Public Sans" panose="020B0604020202020204" charset="0"/>
              </a:rPr>
              <a:t> à </a:t>
            </a:r>
            <a:r>
              <a:rPr lang="en-US" sz="3200" dirty="0" err="1">
                <a:latin typeface="Public Sans" panose="020B0604020202020204" charset="0"/>
              </a:rPr>
              <a:t>sobrecarga</a:t>
            </a:r>
            <a:r>
              <a:rPr lang="en-US" sz="3200" dirty="0">
                <a:latin typeface="Public Sans" panose="020B0604020202020204" charset="0"/>
              </a:rPr>
              <a:t> da equipe de </a:t>
            </a:r>
            <a:r>
              <a:rPr lang="en-US" sz="3200" dirty="0" err="1">
                <a:latin typeface="Public Sans" panose="020B0604020202020204" charset="0"/>
              </a:rPr>
              <a:t>enfermagem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pode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atrasar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identificação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alterações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térmicas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críticas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como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febre</a:t>
            </a:r>
            <a:r>
              <a:rPr lang="en-US" sz="3200" dirty="0">
                <a:latin typeface="Public Sans" panose="020B0604020202020204" charset="0"/>
              </a:rPr>
              <a:t> e </a:t>
            </a:r>
            <a:r>
              <a:rPr lang="en-US" sz="3200" dirty="0" err="1">
                <a:latin typeface="Public Sans" panose="020B0604020202020204" charset="0"/>
              </a:rPr>
              <a:t>hipotermia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aumentando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os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riscos</a:t>
            </a:r>
            <a:r>
              <a:rPr lang="en-US" sz="3200" dirty="0">
                <a:latin typeface="Public Sans" panose="020B0604020202020204" charset="0"/>
              </a:rPr>
              <a:t> à </a:t>
            </a:r>
            <a:r>
              <a:rPr lang="en-US" sz="3200" dirty="0" err="1">
                <a:latin typeface="Public Sans" panose="020B0604020202020204" charset="0"/>
              </a:rPr>
              <a:t>saúde</a:t>
            </a:r>
            <a:r>
              <a:rPr lang="en-US" sz="3200" dirty="0">
                <a:latin typeface="Public Sans" panose="020B0604020202020204" charset="0"/>
              </a:rPr>
              <a:t> do </a:t>
            </a:r>
            <a:r>
              <a:rPr lang="en-US" sz="3200" dirty="0" err="1">
                <a:latin typeface="Public Sans" panose="020B0604020202020204" charset="0"/>
              </a:rPr>
              <a:t>paciente</a:t>
            </a:r>
            <a:r>
              <a:rPr lang="en-US" sz="3200" dirty="0">
                <a:latin typeface="Public Sans" panose="020B0604020202020204" charset="0"/>
              </a:rPr>
              <a:t> e </a:t>
            </a:r>
            <a:r>
              <a:rPr lang="en-US" sz="3200" dirty="0" err="1">
                <a:latin typeface="Public Sans" panose="020B0604020202020204" charset="0"/>
              </a:rPr>
              <a:t>reduzindo</a:t>
            </a:r>
            <a:r>
              <a:rPr lang="en-US" sz="3200" dirty="0">
                <a:latin typeface="Public Sans" panose="020B0604020202020204" charset="0"/>
              </a:rPr>
              <a:t> as chances de </a:t>
            </a:r>
            <a:r>
              <a:rPr lang="en-US" sz="3200" dirty="0" err="1">
                <a:latin typeface="Public Sans" panose="020B0604020202020204" charset="0"/>
              </a:rPr>
              <a:t>uma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intervenção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rápida</a:t>
            </a:r>
            <a:r>
              <a:rPr lang="en-US" sz="3200" dirty="0">
                <a:latin typeface="Public Sans" panose="020B0604020202020204" charset="0"/>
              </a:rPr>
              <a:t> e </a:t>
            </a:r>
            <a:r>
              <a:rPr lang="en-US" sz="3200" dirty="0" err="1">
                <a:latin typeface="Public Sans" panose="020B0604020202020204" charset="0"/>
              </a:rPr>
              <a:t>eficaz</a:t>
            </a:r>
            <a:r>
              <a:rPr lang="en-US" sz="3200" dirty="0">
                <a:latin typeface="Public Sans" panose="020B0604020202020204" charset="0"/>
              </a:rPr>
              <a:t>.</a:t>
            </a:r>
            <a:endParaRPr lang="en-US" sz="3200" dirty="0">
              <a:solidFill>
                <a:srgbClr val="191919"/>
              </a:solidFill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019175"/>
            <a:ext cx="892074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en-US" sz="9000" b="1" u="none" dirty="0">
                <a:solidFill>
                  <a:srgbClr val="FF0000"/>
                </a:solidFill>
                <a:latin typeface="Decalotype Bold"/>
                <a:ea typeface="Decalotype Bold"/>
                <a:cs typeface="Decalotype Bold"/>
              </a:rPr>
              <a:t>PROBLEMA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13144499" y="-1443609"/>
            <a:ext cx="7919641" cy="7928443"/>
            <a:chOff x="0" y="0"/>
            <a:chExt cx="6259642" cy="62665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59642" cy="6266599"/>
            </a:xfrm>
            <a:custGeom>
              <a:avLst/>
              <a:gdLst/>
              <a:ahLst/>
              <a:cxnLst/>
              <a:rect l="l" t="t" r="r" b="b"/>
              <a:pathLst>
                <a:path w="6259642" h="6266599">
                  <a:moveTo>
                    <a:pt x="6259642" y="6266599"/>
                  </a:moveTo>
                  <a:lnTo>
                    <a:pt x="0" y="6266599"/>
                  </a:lnTo>
                  <a:lnTo>
                    <a:pt x="0" y="0"/>
                  </a:lnTo>
                  <a:lnTo>
                    <a:pt x="6259642" y="6266599"/>
                  </a:lnTo>
                  <a:close/>
                </a:path>
              </a:pathLst>
            </a:custGeom>
            <a:solidFill>
              <a:srgbClr val="EA4B33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F177785-1DBF-3FD2-0B0C-3C51AD0FDC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054" y="539261"/>
            <a:ext cx="2182529" cy="713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577"/>
            <a:ext cx="6962231" cy="10295577"/>
          </a:xfrm>
          <a:custGeom>
            <a:avLst/>
            <a:gdLst/>
            <a:ahLst/>
            <a:cxnLst/>
            <a:rect l="l" t="t" r="r" b="b"/>
            <a:pathLst>
              <a:path w="6962231" h="10295577">
                <a:moveTo>
                  <a:pt x="0" y="0"/>
                </a:moveTo>
                <a:lnTo>
                  <a:pt x="6962231" y="0"/>
                </a:lnTo>
                <a:lnTo>
                  <a:pt x="6962231" y="10295577"/>
                </a:lnTo>
                <a:lnTo>
                  <a:pt x="0" y="10295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3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1861960" y="5186730"/>
            <a:ext cx="3238309" cy="6962231"/>
            <a:chOff x="0" y="0"/>
            <a:chExt cx="5350489" cy="11503332"/>
          </a:xfrm>
          <a:solidFill>
            <a:srgbClr val="EA4B33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5350489" cy="11503332"/>
            </a:xfrm>
            <a:custGeom>
              <a:avLst/>
              <a:gdLst/>
              <a:ahLst/>
              <a:cxnLst/>
              <a:rect l="l" t="t" r="r" b="b"/>
              <a:pathLst>
                <a:path w="5350489" h="11503332">
                  <a:moveTo>
                    <a:pt x="5350489" y="11503332"/>
                  </a:moveTo>
                  <a:lnTo>
                    <a:pt x="0" y="11503332"/>
                  </a:lnTo>
                  <a:lnTo>
                    <a:pt x="0" y="0"/>
                  </a:lnTo>
                  <a:lnTo>
                    <a:pt x="5350489" y="1150333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67724" y="-8577"/>
            <a:ext cx="7250190" cy="4300062"/>
            <a:chOff x="0" y="0"/>
            <a:chExt cx="11811432" cy="7005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11432" cy="7005319"/>
            </a:xfrm>
            <a:custGeom>
              <a:avLst/>
              <a:gdLst/>
              <a:ahLst/>
              <a:cxnLst/>
              <a:rect l="l" t="t" r="r" b="b"/>
              <a:pathLst>
                <a:path w="11811432" h="7005319">
                  <a:moveTo>
                    <a:pt x="11811432" y="7005319"/>
                  </a:moveTo>
                  <a:lnTo>
                    <a:pt x="0" y="7005319"/>
                  </a:lnTo>
                  <a:lnTo>
                    <a:pt x="0" y="0"/>
                  </a:lnTo>
                  <a:lnTo>
                    <a:pt x="11811432" y="7005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250190" y="1227417"/>
            <a:ext cx="1080921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EA4B33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DESAFIO</a:t>
            </a:r>
            <a:endParaRPr lang="en-US" sz="9000" b="1" u="none" dirty="0">
              <a:solidFill>
                <a:srgbClr val="EA4B33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50190" y="1849220"/>
            <a:ext cx="10809210" cy="6621936"/>
            <a:chOff x="0" y="58420"/>
            <a:chExt cx="8957733" cy="882924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8420"/>
              <a:ext cx="8957733" cy="581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437"/>
                </a:lnSpc>
              </a:pPr>
              <a:endParaRPr lang="en-US" sz="3125" b="1" u="none">
                <a:solidFill>
                  <a:srgbClr val="191919"/>
                </a:solidFill>
                <a:latin typeface="Decalotype Bold" panose="020B0604020202020204" charset="0"/>
                <a:ea typeface="Decalotype Bold"/>
                <a:cs typeface="Decalotype Bold"/>
                <a:sym typeface="Decalotype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492755"/>
              <a:ext cx="8957733" cy="6394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30"/>
                </a:lnSpc>
              </a:pPr>
              <a:r>
                <a:rPr lang="pt-BR" sz="3200" dirty="0">
                  <a:latin typeface="Public Sans" panose="020B0604020202020204" charset="0"/>
                </a:rPr>
                <a:t>	</a:t>
              </a:r>
              <a:r>
                <a:rPr lang="en-US" sz="3200" dirty="0">
                  <a:latin typeface="Public Sans" panose="020B0604020202020204" charset="0"/>
                </a:rPr>
                <a:t>O </a:t>
              </a:r>
              <a:r>
                <a:rPr lang="en-US" sz="3200" dirty="0" err="1">
                  <a:latin typeface="Public Sans" panose="020B0604020202020204" charset="0"/>
                </a:rPr>
                <a:t>desafio</a:t>
              </a:r>
              <a:r>
                <a:rPr lang="en-US" sz="3200" dirty="0">
                  <a:latin typeface="Public Sans" panose="020B0604020202020204" charset="0"/>
                </a:rPr>
                <a:t> do </a:t>
              </a:r>
              <a:r>
                <a:rPr lang="en-US" sz="3200" dirty="0" err="1">
                  <a:latin typeface="Public Sans" panose="020B0604020202020204" charset="0"/>
                </a:rPr>
                <a:t>projeto</a:t>
              </a:r>
              <a:r>
                <a:rPr lang="en-US" sz="3200" dirty="0">
                  <a:latin typeface="Public Sans" panose="020B0604020202020204" charset="0"/>
                </a:rPr>
                <a:t> é </a:t>
              </a:r>
              <a:r>
                <a:rPr lang="en-US" sz="3200" dirty="0" err="1">
                  <a:latin typeface="Public Sans" panose="020B0604020202020204" charset="0"/>
                </a:rPr>
                <a:t>garantir</a:t>
              </a:r>
              <a:r>
                <a:rPr lang="en-US" sz="3200" dirty="0">
                  <a:latin typeface="Public Sans" panose="020B0604020202020204" charset="0"/>
                </a:rPr>
                <a:t> um </a:t>
              </a:r>
              <a:r>
                <a:rPr lang="en-US" sz="3200" dirty="0" err="1">
                  <a:latin typeface="Public Sans" panose="020B0604020202020204" charset="0"/>
                </a:rPr>
                <a:t>monitoramento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contínuo</a:t>
              </a:r>
              <a:r>
                <a:rPr lang="en-US" sz="3200" dirty="0">
                  <a:latin typeface="Public Sans" panose="020B0604020202020204" charset="0"/>
                </a:rPr>
                <a:t>, </a:t>
              </a:r>
              <a:r>
                <a:rPr lang="en-US" sz="3200" dirty="0" err="1">
                  <a:latin typeface="Public Sans" panose="020B0604020202020204" charset="0"/>
                </a:rPr>
                <a:t>confiável</a:t>
              </a:r>
              <a:r>
                <a:rPr lang="en-US" sz="3200" dirty="0">
                  <a:latin typeface="Public Sans" panose="020B0604020202020204" charset="0"/>
                </a:rPr>
                <a:t> e de </a:t>
              </a:r>
              <a:r>
                <a:rPr lang="en-US" sz="3200" dirty="0" err="1">
                  <a:latin typeface="Public Sans" panose="020B0604020202020204" charset="0"/>
                </a:rPr>
                <a:t>fácil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acesso</a:t>
              </a:r>
              <a:r>
                <a:rPr lang="en-US" sz="3200" dirty="0">
                  <a:latin typeface="Public Sans" panose="020B0604020202020204" charset="0"/>
                </a:rPr>
                <a:t> da </a:t>
              </a:r>
              <a:r>
                <a:rPr lang="en-US" sz="3200" dirty="0" err="1">
                  <a:latin typeface="Public Sans" panose="020B0604020202020204" charset="0"/>
                </a:rPr>
                <a:t>temperatura</a:t>
              </a:r>
              <a:r>
                <a:rPr lang="en-US" sz="3200" dirty="0">
                  <a:latin typeface="Public Sans" panose="020B0604020202020204" charset="0"/>
                </a:rPr>
                <a:t> dos </a:t>
              </a:r>
              <a:r>
                <a:rPr lang="en-US" sz="3200" dirty="0" err="1">
                  <a:latin typeface="Public Sans" panose="020B0604020202020204" charset="0"/>
                </a:rPr>
                <a:t>pacientes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em</a:t>
              </a:r>
              <a:r>
                <a:rPr lang="en-US" sz="3200" dirty="0">
                  <a:latin typeface="Public Sans" panose="020B0604020202020204" charset="0"/>
                </a:rPr>
                <a:t> um </a:t>
              </a:r>
              <a:r>
                <a:rPr lang="en-US" sz="3200" dirty="0" err="1">
                  <a:latin typeface="Public Sans" panose="020B0604020202020204" charset="0"/>
                </a:rPr>
                <a:t>ambiente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crítico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como</a:t>
              </a:r>
              <a:r>
                <a:rPr lang="en-US" sz="3200" dirty="0">
                  <a:latin typeface="Public Sans" panose="020B0604020202020204" charset="0"/>
                </a:rPr>
                <a:t> a UTI, </a:t>
              </a:r>
              <a:r>
                <a:rPr lang="en-US" sz="3200" dirty="0" err="1">
                  <a:latin typeface="Public Sans" panose="020B0604020202020204" charset="0"/>
                </a:rPr>
                <a:t>unindo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precisão</a:t>
              </a:r>
              <a:r>
                <a:rPr lang="en-US" sz="3200" dirty="0">
                  <a:latin typeface="Public Sans" panose="020B0604020202020204" charset="0"/>
                </a:rPr>
                <a:t>, </a:t>
              </a:r>
              <a:r>
                <a:rPr lang="en-US" sz="3200" dirty="0" err="1">
                  <a:latin typeface="Public Sans" panose="020B0604020202020204" charset="0"/>
                </a:rPr>
                <a:t>alertas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eficientes</a:t>
              </a:r>
              <a:r>
                <a:rPr lang="en-US" sz="3200" dirty="0">
                  <a:latin typeface="Public Sans" panose="020B0604020202020204" charset="0"/>
                </a:rPr>
                <a:t> e </a:t>
              </a:r>
              <a:r>
                <a:rPr lang="en-US" sz="3200" dirty="0" err="1">
                  <a:latin typeface="Public Sans" panose="020B0604020202020204" charset="0"/>
                </a:rPr>
                <a:t>facilidade</a:t>
              </a:r>
              <a:r>
                <a:rPr lang="en-US" sz="3200" dirty="0">
                  <a:latin typeface="Public Sans" panose="020B0604020202020204" charset="0"/>
                </a:rPr>
                <a:t> de </a:t>
              </a:r>
              <a:r>
                <a:rPr lang="en-US" sz="3200" dirty="0" err="1">
                  <a:latin typeface="Public Sans" panose="020B0604020202020204" charset="0"/>
                </a:rPr>
                <a:t>uso</a:t>
              </a:r>
              <a:r>
                <a:rPr lang="en-US" sz="3200" dirty="0">
                  <a:latin typeface="Public Sans" panose="020B0604020202020204" charset="0"/>
                </a:rPr>
                <a:t> para a equipe de </a:t>
              </a:r>
              <a:r>
                <a:rPr lang="en-US" sz="3200" dirty="0" err="1">
                  <a:latin typeface="Public Sans" panose="020B0604020202020204" charset="0"/>
                </a:rPr>
                <a:t>enfermagem</a:t>
              </a:r>
              <a:r>
                <a:rPr lang="en-US" sz="3200" dirty="0">
                  <a:latin typeface="Public Sans" panose="020B0604020202020204" charset="0"/>
                </a:rPr>
                <a:t>.</a:t>
              </a:r>
            </a:p>
            <a:p>
              <a:pPr>
                <a:lnSpc>
                  <a:spcPts val="3430"/>
                </a:lnSpc>
              </a:pPr>
              <a:endParaRPr lang="pt-BR" sz="3200" dirty="0">
                <a:solidFill>
                  <a:srgbClr val="191919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endParaRPr>
            </a:p>
            <a:p>
              <a:pPr>
                <a:lnSpc>
                  <a:spcPts val="3430"/>
                </a:lnSpc>
              </a:pPr>
              <a:r>
                <a:rPr lang="en-US" sz="3200" dirty="0">
                  <a:latin typeface="Public Sans" panose="020B0604020202020204" charset="0"/>
                </a:rPr>
                <a:t>	</a:t>
              </a:r>
              <a:r>
                <a:rPr lang="en-US" sz="3200" dirty="0" err="1">
                  <a:latin typeface="Public Sans" panose="020B0604020202020204" charset="0"/>
                </a:rPr>
                <a:t>Além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disso</a:t>
              </a:r>
              <a:r>
                <a:rPr lang="en-US" sz="3200" dirty="0">
                  <a:latin typeface="Public Sans" panose="020B0604020202020204" charset="0"/>
                </a:rPr>
                <a:t>, </a:t>
              </a:r>
              <a:r>
                <a:rPr lang="en-US" sz="3200" dirty="0" err="1">
                  <a:latin typeface="Public Sans" panose="020B0604020202020204" charset="0"/>
                </a:rPr>
                <a:t>somos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responsáveis</a:t>
              </a:r>
              <a:r>
                <a:rPr lang="en-US" sz="3200" dirty="0">
                  <a:latin typeface="Public Sans" panose="020B0604020202020204" charset="0"/>
                </a:rPr>
                <a:t> pela </a:t>
              </a:r>
              <a:r>
                <a:rPr lang="en-US" sz="3200" dirty="0" err="1">
                  <a:latin typeface="Public Sans" panose="020B0604020202020204" charset="0"/>
                </a:rPr>
                <a:t>instalação</a:t>
              </a:r>
              <a:r>
                <a:rPr lang="en-US" sz="3200" dirty="0">
                  <a:latin typeface="Public Sans" panose="020B0604020202020204" charset="0"/>
                </a:rPr>
                <a:t>, </a:t>
              </a:r>
              <a:r>
                <a:rPr lang="en-US" sz="3200" dirty="0" err="1">
                  <a:latin typeface="Public Sans" panose="020B0604020202020204" charset="0"/>
                </a:rPr>
                <a:t>manutenção</a:t>
              </a:r>
              <a:r>
                <a:rPr lang="en-US" sz="3200" dirty="0">
                  <a:latin typeface="Public Sans" panose="020B0604020202020204" charset="0"/>
                </a:rPr>
                <a:t> e </a:t>
              </a:r>
              <a:r>
                <a:rPr lang="en-US" sz="3200" dirty="0" err="1">
                  <a:latin typeface="Public Sans" panose="020B0604020202020204" charset="0"/>
                </a:rPr>
                <a:t>controle</a:t>
              </a:r>
              <a:r>
                <a:rPr lang="en-US" sz="3200" dirty="0">
                  <a:latin typeface="Public Sans" panose="020B0604020202020204" charset="0"/>
                </a:rPr>
                <a:t> de </a:t>
              </a:r>
              <a:r>
                <a:rPr lang="en-US" sz="3200" dirty="0" err="1">
                  <a:latin typeface="Public Sans" panose="020B0604020202020204" charset="0"/>
                </a:rPr>
                <a:t>qualidade</a:t>
              </a:r>
              <a:r>
                <a:rPr lang="en-US" sz="3200" dirty="0">
                  <a:latin typeface="Public Sans" panose="020B0604020202020204" charset="0"/>
                </a:rPr>
                <a:t> do </a:t>
              </a:r>
              <a:r>
                <a:rPr lang="en-US" sz="3200" dirty="0" err="1">
                  <a:latin typeface="Public Sans" panose="020B0604020202020204" charset="0"/>
                </a:rPr>
                <a:t>nosso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produto</a:t>
              </a:r>
              <a:r>
                <a:rPr lang="en-US" sz="3200" dirty="0">
                  <a:latin typeface="Public Sans" panose="020B0604020202020204" charset="0"/>
                </a:rPr>
                <a:t> e </a:t>
              </a:r>
              <a:r>
                <a:rPr lang="en-US" sz="3200" dirty="0" err="1">
                  <a:latin typeface="Public Sans" panose="020B0604020202020204" charset="0"/>
                </a:rPr>
                <a:t>serviço</a:t>
              </a:r>
              <a:r>
                <a:rPr lang="en-US" sz="3200" dirty="0">
                  <a:latin typeface="Public Sans" panose="020B0604020202020204" charset="0"/>
                </a:rPr>
                <a:t>. É </a:t>
              </a:r>
              <a:r>
                <a:rPr lang="en-US" sz="3200" dirty="0" err="1">
                  <a:latin typeface="Public Sans" panose="020B0604020202020204" charset="0"/>
                </a:rPr>
                <a:t>nosso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dever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garantir</a:t>
              </a:r>
              <a:r>
                <a:rPr lang="en-US" sz="3200" dirty="0">
                  <a:latin typeface="Public Sans" panose="020B0604020202020204" charset="0"/>
                </a:rPr>
                <a:t> a </a:t>
              </a:r>
              <a:r>
                <a:rPr lang="en-US" sz="3200" dirty="0" err="1">
                  <a:latin typeface="Public Sans" panose="020B0604020202020204" charset="0"/>
                </a:rPr>
                <a:t>entrega</a:t>
              </a:r>
              <a:r>
                <a:rPr lang="en-US" sz="3200" dirty="0">
                  <a:latin typeface="Public Sans" panose="020B0604020202020204" charset="0"/>
                </a:rPr>
                <a:t> de </a:t>
              </a:r>
              <a:r>
                <a:rPr lang="en-US" sz="3200" dirty="0" err="1">
                  <a:latin typeface="Public Sans" panose="020B0604020202020204" charset="0"/>
                </a:rPr>
                <a:t>uma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solução</a:t>
              </a:r>
              <a:r>
                <a:rPr lang="en-US" sz="3200" dirty="0">
                  <a:latin typeface="Public Sans" panose="020B0604020202020204" charset="0"/>
                </a:rPr>
                <a:t> de </a:t>
              </a:r>
              <a:r>
                <a:rPr lang="en-US" sz="3200" dirty="0" err="1">
                  <a:latin typeface="Public Sans" panose="020B0604020202020204" charset="0"/>
                </a:rPr>
                <a:t>alta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qualidade</a:t>
              </a:r>
              <a:r>
                <a:rPr lang="en-US" sz="3200" dirty="0">
                  <a:latin typeface="Public Sans" panose="020B0604020202020204" charset="0"/>
                </a:rPr>
                <a:t>, de </a:t>
              </a:r>
              <a:r>
                <a:rPr lang="en-US" sz="3200" dirty="0" err="1">
                  <a:latin typeface="Public Sans" panose="020B0604020202020204" charset="0"/>
                </a:rPr>
                <a:t>fácil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compreensão</a:t>
              </a:r>
              <a:r>
                <a:rPr lang="en-US" sz="3200" dirty="0">
                  <a:latin typeface="Public Sans" panose="020B0604020202020204" charset="0"/>
                </a:rPr>
                <a:t> e </a:t>
              </a:r>
              <a:r>
                <a:rPr lang="en-US" sz="3200" dirty="0" err="1">
                  <a:latin typeface="Public Sans" panose="020B0604020202020204" charset="0"/>
                </a:rPr>
                <a:t>utilização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por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parte</a:t>
              </a:r>
              <a:r>
                <a:rPr lang="en-US" sz="3200" dirty="0">
                  <a:latin typeface="Public Sans" panose="020B0604020202020204" charset="0"/>
                </a:rPr>
                <a:t> do </a:t>
              </a:r>
              <a:r>
                <a:rPr lang="en-US" sz="3200" dirty="0" err="1">
                  <a:latin typeface="Public Sans" panose="020B0604020202020204" charset="0"/>
                </a:rPr>
                <a:t>cliente</a:t>
              </a:r>
              <a:r>
                <a:rPr lang="en-US" sz="3200" dirty="0">
                  <a:latin typeface="Public Sans" panose="020B0604020202020204" charset="0"/>
                </a:rPr>
                <a:t>.</a:t>
              </a:r>
              <a:endParaRPr lang="en-US" sz="3200" dirty="0">
                <a:solidFill>
                  <a:srgbClr val="191919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endParaRPr>
            </a:p>
          </p:txBody>
        </p:sp>
      </p:grpSp>
      <p:pic>
        <p:nvPicPr>
          <p:cNvPr id="9" name="Imagem 8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D86E022D-574C-4C92-3591-188EB6B8D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512" y="532720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33129" cy="10287000"/>
          </a:xfrm>
          <a:prstGeom prst="rect">
            <a:avLst/>
          </a:prstGeom>
          <a:solidFill>
            <a:srgbClr val="066ED6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0" y="1021556"/>
            <a:ext cx="7633129" cy="99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30"/>
              </a:lnSpc>
              <a:spcBef>
                <a:spcPct val="0"/>
              </a:spcBef>
            </a:pPr>
            <a:r>
              <a:rPr lang="en-US" sz="9000" b="1" u="none" dirty="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SOLUÇÃO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77200" y="2604343"/>
            <a:ext cx="9892870" cy="4655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5"/>
              </a:lnSpc>
            </a:pPr>
            <a:r>
              <a:rPr lang="pt-BR" sz="3200" dirty="0">
                <a:latin typeface="Public Sans" panose="020B0604020202020204" charset="0"/>
              </a:rPr>
              <a:t>	</a:t>
            </a:r>
            <a:r>
              <a:rPr lang="en-US" sz="3200" dirty="0">
                <a:latin typeface="Public Sans" panose="020B0604020202020204" charset="0"/>
              </a:rPr>
              <a:t>A </a:t>
            </a:r>
            <a:r>
              <a:rPr lang="en-US" sz="3200" dirty="0" err="1">
                <a:latin typeface="Public Sans" panose="020B0604020202020204" charset="0"/>
              </a:rPr>
              <a:t>ThermoTrack</a:t>
            </a:r>
            <a:r>
              <a:rPr lang="en-US" sz="3200" dirty="0">
                <a:latin typeface="Public Sans" panose="020B0604020202020204" charset="0"/>
              </a:rPr>
              <a:t> é </a:t>
            </a:r>
            <a:r>
              <a:rPr lang="en-US" sz="3200" dirty="0" err="1">
                <a:latin typeface="Public Sans" panose="020B0604020202020204" charset="0"/>
              </a:rPr>
              <a:t>uma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pulseira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inteligente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que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realiza</a:t>
            </a:r>
            <a:r>
              <a:rPr lang="en-US" sz="3200" dirty="0">
                <a:latin typeface="Public Sans" panose="020B0604020202020204" charset="0"/>
              </a:rPr>
              <a:t> a </a:t>
            </a:r>
            <a:r>
              <a:rPr lang="en-US" sz="3200" dirty="0" err="1">
                <a:latin typeface="Public Sans" panose="020B0604020202020204" charset="0"/>
              </a:rPr>
              <a:t>captura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contínua</a:t>
            </a:r>
            <a:r>
              <a:rPr lang="en-US" sz="3200" dirty="0">
                <a:latin typeface="Public Sans" panose="020B0604020202020204" charset="0"/>
              </a:rPr>
              <a:t> da </a:t>
            </a:r>
            <a:r>
              <a:rPr lang="en-US" sz="3200" dirty="0" err="1">
                <a:latin typeface="Public Sans" panose="020B0604020202020204" charset="0"/>
              </a:rPr>
              <a:t>temperatura</a:t>
            </a:r>
            <a:r>
              <a:rPr lang="en-US" sz="3200" dirty="0">
                <a:latin typeface="Public Sans" panose="020B0604020202020204" charset="0"/>
              </a:rPr>
              <a:t> corporal e </a:t>
            </a:r>
            <a:r>
              <a:rPr lang="en-US" sz="3200" dirty="0" err="1">
                <a:latin typeface="Public Sans" panose="020B0604020202020204" charset="0"/>
              </a:rPr>
              <a:t>envia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os</a:t>
            </a:r>
            <a:r>
              <a:rPr lang="en-US" sz="3200" dirty="0">
                <a:latin typeface="Public Sans" panose="020B0604020202020204" charset="0"/>
              </a:rPr>
              <a:t> dados, </a:t>
            </a:r>
            <a:r>
              <a:rPr lang="en-US" sz="3200" dirty="0" err="1">
                <a:latin typeface="Public Sans" panose="020B0604020202020204" charset="0"/>
              </a:rPr>
              <a:t>em</a:t>
            </a:r>
            <a:r>
              <a:rPr lang="en-US" sz="3200" dirty="0">
                <a:latin typeface="Public Sans" panose="020B0604020202020204" charset="0"/>
              </a:rPr>
              <a:t> tempo real, para </a:t>
            </a:r>
            <a:r>
              <a:rPr lang="en-US" sz="3200" dirty="0" err="1">
                <a:latin typeface="Public Sans" panose="020B0604020202020204" charset="0"/>
              </a:rPr>
              <a:t>nosso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sistema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monitoramento</a:t>
            </a:r>
            <a:r>
              <a:rPr lang="en-US" sz="3200" dirty="0">
                <a:latin typeface="Public Sans" panose="020B0604020202020204" charset="0"/>
              </a:rPr>
              <a:t>. Em </a:t>
            </a:r>
            <a:r>
              <a:rPr lang="en-US" sz="3200" dirty="0" err="1">
                <a:latin typeface="Public Sans" panose="020B0604020202020204" charset="0"/>
              </a:rPr>
              <a:t>casos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variações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térmicas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anormais</a:t>
            </a:r>
            <a:r>
              <a:rPr lang="en-US" sz="3200" dirty="0">
                <a:latin typeface="Public Sans" panose="020B0604020202020204" charset="0"/>
              </a:rPr>
              <a:t>, a </a:t>
            </a:r>
            <a:r>
              <a:rPr lang="en-US" sz="3200" dirty="0" err="1">
                <a:latin typeface="Public Sans" panose="020B0604020202020204" charset="0"/>
              </a:rPr>
              <a:t>solução</a:t>
            </a:r>
            <a:r>
              <a:rPr lang="en-US" sz="3200" dirty="0">
                <a:latin typeface="Public Sans" panose="020B0604020202020204" charset="0"/>
              </a:rPr>
              <a:t> auxilia a equipe de </a:t>
            </a:r>
            <a:r>
              <a:rPr lang="en-US" sz="3200" dirty="0" err="1">
                <a:latin typeface="Public Sans" panose="020B0604020202020204" charset="0"/>
              </a:rPr>
              <a:t>enfermagem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na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identificação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rápida</a:t>
            </a:r>
            <a:r>
              <a:rPr lang="en-US" sz="3200" dirty="0">
                <a:latin typeface="Public Sans" panose="020B0604020202020204" charset="0"/>
              </a:rPr>
              <a:t> de </a:t>
            </a:r>
            <a:r>
              <a:rPr lang="en-US" sz="3200" dirty="0" err="1">
                <a:latin typeface="Public Sans" panose="020B0604020202020204" charset="0"/>
              </a:rPr>
              <a:t>alterações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críticas</a:t>
            </a:r>
            <a:r>
              <a:rPr lang="en-US" sz="3200" dirty="0">
                <a:latin typeface="Public Sans" panose="020B0604020202020204" charset="0"/>
              </a:rPr>
              <a:t>, </a:t>
            </a:r>
            <a:r>
              <a:rPr lang="en-US" sz="3200" dirty="0" err="1">
                <a:latin typeface="Public Sans" panose="020B0604020202020204" charset="0"/>
              </a:rPr>
              <a:t>permitindo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intervenções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mais</a:t>
            </a:r>
            <a:r>
              <a:rPr lang="en-US" sz="3200" dirty="0">
                <a:latin typeface="Public Sans" panose="020B0604020202020204" charset="0"/>
              </a:rPr>
              <a:t> </a:t>
            </a:r>
            <a:r>
              <a:rPr lang="en-US" sz="3200" dirty="0" err="1">
                <a:latin typeface="Public Sans" panose="020B0604020202020204" charset="0"/>
              </a:rPr>
              <a:t>ágeis</a:t>
            </a:r>
            <a:r>
              <a:rPr lang="en-US" sz="3200" dirty="0">
                <a:latin typeface="Public Sans" panose="020B0604020202020204" charset="0"/>
              </a:rPr>
              <a:t> e </a:t>
            </a:r>
            <a:r>
              <a:rPr lang="en-US" sz="3200" dirty="0" err="1">
                <a:latin typeface="Public Sans" panose="020B0604020202020204" charset="0"/>
              </a:rPr>
              <a:t>precisas</a:t>
            </a:r>
            <a:r>
              <a:rPr lang="en-US" sz="3200" dirty="0">
                <a:latin typeface="Public Sans" panose="020B0604020202020204" charset="0"/>
              </a:rPr>
              <a:t>.</a:t>
            </a:r>
          </a:p>
          <a:p>
            <a:pPr>
              <a:lnSpc>
                <a:spcPts val="3325"/>
              </a:lnSpc>
            </a:pPr>
            <a:endParaRPr lang="pt-BR" sz="3200" dirty="0"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  <a:p>
            <a:pPr>
              <a:lnSpc>
                <a:spcPts val="3325"/>
              </a:lnSpc>
            </a:pPr>
            <a:r>
              <a:rPr lang="pt-BR" sz="3200" dirty="0">
                <a:latin typeface="Decalotype Bold" panose="020B0604020202020204" charset="0"/>
              </a:rPr>
              <a:t>Em um ambiente onde segundos salvam vidas, monitorar com precisão não é inovação — é necessidade.</a:t>
            </a:r>
            <a:endParaRPr lang="en-US" sz="3125" b="1" dirty="0">
              <a:solidFill>
                <a:srgbClr val="191919"/>
              </a:solidFill>
              <a:latin typeface="Decalotype Bold" panose="020B0604020202020204" charset="0"/>
              <a:ea typeface="Decalotype Bold"/>
              <a:cs typeface="Decalotype Bold"/>
              <a:sym typeface="Decalotype Bold"/>
            </a:endParaRPr>
          </a:p>
          <a:p>
            <a:pPr>
              <a:lnSpc>
                <a:spcPts val="3325"/>
              </a:lnSpc>
            </a:pPr>
            <a:endParaRPr lang="en-US" sz="3200" dirty="0"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80BE09-6FA1-DDBD-84F8-4DE30DABF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4344"/>
            <a:ext cx="5943600" cy="6160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E763789A-869F-510B-DD6C-3CD8DB2D7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512" y="532720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DE4869-A51D-8544-8E51-47FD66C6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" y="4045"/>
            <a:ext cx="18281026" cy="102789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6083A0-D8F0-30DF-0EFE-63A497608B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51" y="318035"/>
            <a:ext cx="2182529" cy="713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1A5D5D-E26A-AB67-63A9-1FBC7FBE6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0" y="8091"/>
            <a:ext cx="18090500" cy="102789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AD371-9472-B6F4-0AD8-E74BBC55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2444FD-8540-E27D-7F2A-4FADD74D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" y="4045"/>
            <a:ext cx="18281026" cy="102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48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3FDF-0645-22FF-1101-C9BFDCBF0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605B4-CEB2-9CFD-D9E4-8CD3740A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414337"/>
            <a:ext cx="18286095" cy="94583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C03CC01-B46C-22A3-797C-6D2B72085F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4090" y="6512358"/>
            <a:ext cx="2182529" cy="71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1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BD239-5D4D-A450-889E-77C78017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ângulo 62">
            <a:extLst>
              <a:ext uri="{FF2B5EF4-FFF2-40B4-BE49-F238E27FC236}">
                <a16:creationId xmlns:a16="http://schemas.microsoft.com/office/drawing/2014/main" id="{0DC8A7C6-17BB-6553-A9D0-5B6C51A5B2A7}"/>
              </a:ext>
            </a:extLst>
          </p:cNvPr>
          <p:cNvSpPr/>
          <p:nvPr/>
        </p:nvSpPr>
        <p:spPr>
          <a:xfrm>
            <a:off x="-76200" y="-57150"/>
            <a:ext cx="18440400" cy="10401300"/>
          </a:xfrm>
          <a:prstGeom prst="rect">
            <a:avLst/>
          </a:prstGeom>
          <a:solidFill>
            <a:srgbClr val="066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5853B2D-A34E-220B-E851-C764E86DE7E6}"/>
              </a:ext>
            </a:extLst>
          </p:cNvPr>
          <p:cNvSpPr txBox="1"/>
          <p:nvPr/>
        </p:nvSpPr>
        <p:spPr>
          <a:xfrm>
            <a:off x="1291460" y="0"/>
            <a:ext cx="1570508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u="none">
                <a:solidFill>
                  <a:schemeClr val="bg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Ferramentas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EBCF523-E05F-FC6A-C555-C90CCF8E4881}"/>
              </a:ext>
            </a:extLst>
          </p:cNvPr>
          <p:cNvGrpSpPr/>
          <p:nvPr/>
        </p:nvGrpSpPr>
        <p:grpSpPr>
          <a:xfrm>
            <a:off x="6275077" y="1458002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520C1A7-D69A-BCB0-0F5C-958574AFBD4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Retângulo 45">
            <a:extLst>
              <a:ext uri="{FF2B5EF4-FFF2-40B4-BE49-F238E27FC236}">
                <a16:creationId xmlns:a16="http://schemas.microsoft.com/office/drawing/2014/main" id="{858960ED-E611-99C5-A25F-EB32EDC86C8B}"/>
              </a:ext>
            </a:extLst>
          </p:cNvPr>
          <p:cNvSpPr/>
          <p:nvPr/>
        </p:nvSpPr>
        <p:spPr>
          <a:xfrm>
            <a:off x="5219699" y="3431768"/>
            <a:ext cx="3657600" cy="6400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24972D7-EF11-C8A6-4D57-BE5E13E45DAF}"/>
              </a:ext>
            </a:extLst>
          </p:cNvPr>
          <p:cNvSpPr/>
          <p:nvPr/>
        </p:nvSpPr>
        <p:spPr>
          <a:xfrm>
            <a:off x="9410702" y="3431768"/>
            <a:ext cx="3657600" cy="6400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296CA3DB-1D05-894A-54BA-913C21316E69}"/>
              </a:ext>
            </a:extLst>
          </p:cNvPr>
          <p:cNvSpPr/>
          <p:nvPr/>
        </p:nvSpPr>
        <p:spPr>
          <a:xfrm>
            <a:off x="13601705" y="3431768"/>
            <a:ext cx="3657600" cy="64008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9" name="Group 18">
            <a:extLst>
              <a:ext uri="{FF2B5EF4-FFF2-40B4-BE49-F238E27FC236}">
                <a16:creationId xmlns:a16="http://schemas.microsoft.com/office/drawing/2014/main" id="{65F0ABA6-CED6-EBDC-D157-42DF7E4FE73E}"/>
              </a:ext>
            </a:extLst>
          </p:cNvPr>
          <p:cNvGrpSpPr/>
          <p:nvPr/>
        </p:nvGrpSpPr>
        <p:grpSpPr>
          <a:xfrm>
            <a:off x="10466079" y="1447611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B10CEBB-53F7-5AC2-1580-5D5DACE0A1E5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18">
            <a:extLst>
              <a:ext uri="{FF2B5EF4-FFF2-40B4-BE49-F238E27FC236}">
                <a16:creationId xmlns:a16="http://schemas.microsoft.com/office/drawing/2014/main" id="{AD8CBD26-7089-4AB3-F867-F0CC7793FB60}"/>
              </a:ext>
            </a:extLst>
          </p:cNvPr>
          <p:cNvGrpSpPr/>
          <p:nvPr/>
        </p:nvGrpSpPr>
        <p:grpSpPr>
          <a:xfrm>
            <a:off x="14657082" y="1376871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FD9F42B7-F92A-85C1-C036-FD24A9CDE7F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18">
            <a:extLst>
              <a:ext uri="{FF2B5EF4-FFF2-40B4-BE49-F238E27FC236}">
                <a16:creationId xmlns:a16="http://schemas.microsoft.com/office/drawing/2014/main" id="{3980A3F3-90DA-884F-8A0C-B57F2324A3E8}"/>
              </a:ext>
            </a:extLst>
          </p:cNvPr>
          <p:cNvGrpSpPr/>
          <p:nvPr/>
        </p:nvGrpSpPr>
        <p:grpSpPr>
          <a:xfrm>
            <a:off x="2084073" y="1398859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7097F8F-BF96-2563-C608-C1BF9A62ABEF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6" name="Imagem 55">
            <a:extLst>
              <a:ext uri="{FF2B5EF4-FFF2-40B4-BE49-F238E27FC236}">
                <a16:creationId xmlns:a16="http://schemas.microsoft.com/office/drawing/2014/main" id="{907317BF-6DBB-0427-E457-238E55DBDF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95" y="1477921"/>
            <a:ext cx="1371600" cy="1371600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935E97F3-3720-9FE5-2841-81D5D3FEF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699" y="1524605"/>
            <a:ext cx="1371600" cy="137160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EE408AEE-9B4A-721F-38B4-9A27E978EA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1652822"/>
            <a:ext cx="1188720" cy="1188720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010E43A8-238C-FE7F-FD72-FE13D3704A8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144" y="1569361"/>
            <a:ext cx="1188720" cy="1188720"/>
          </a:xfrm>
          <a:prstGeom prst="rect">
            <a:avLst/>
          </a:prstGeom>
        </p:spPr>
      </p:pic>
      <p:sp>
        <p:nvSpPr>
          <p:cNvPr id="64" name="Retângulo 63">
            <a:extLst>
              <a:ext uri="{FF2B5EF4-FFF2-40B4-BE49-F238E27FC236}">
                <a16:creationId xmlns:a16="http://schemas.microsoft.com/office/drawing/2014/main" id="{BC6766CE-2C19-4119-0B16-E6BBD5DB3799}"/>
              </a:ext>
            </a:extLst>
          </p:cNvPr>
          <p:cNvSpPr/>
          <p:nvPr/>
        </p:nvSpPr>
        <p:spPr>
          <a:xfrm>
            <a:off x="1028696" y="3431768"/>
            <a:ext cx="3657600" cy="6400800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05E7859-31DA-7723-A67D-666119CD8620}"/>
              </a:ext>
            </a:extLst>
          </p:cNvPr>
          <p:cNvSpPr txBox="1"/>
          <p:nvPr/>
        </p:nvSpPr>
        <p:spPr>
          <a:xfrm>
            <a:off x="2128448" y="2846993"/>
            <a:ext cx="1458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Trello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C4558133-B5BD-F0B5-712A-AF57CAF26B63}"/>
              </a:ext>
            </a:extLst>
          </p:cNvPr>
          <p:cNvSpPr txBox="1"/>
          <p:nvPr/>
        </p:nvSpPr>
        <p:spPr>
          <a:xfrm>
            <a:off x="6135874" y="2841542"/>
            <a:ext cx="1825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GitHub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314EA7C6-8F9D-BCE6-6D09-9D9F07795224}"/>
              </a:ext>
            </a:extLst>
          </p:cNvPr>
          <p:cNvSpPr txBox="1"/>
          <p:nvPr/>
        </p:nvSpPr>
        <p:spPr>
          <a:xfrm>
            <a:off x="10326876" y="2849521"/>
            <a:ext cx="1825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Teams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DC9359E8-F8F1-A8AF-5488-CB22876CFB27}"/>
              </a:ext>
            </a:extLst>
          </p:cNvPr>
          <p:cNvSpPr txBox="1"/>
          <p:nvPr/>
        </p:nvSpPr>
        <p:spPr>
          <a:xfrm>
            <a:off x="14517879" y="2838827"/>
            <a:ext cx="1825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Notion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96055F81-307E-DE36-EB3D-1511E0EBE8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85012" y="444797"/>
            <a:ext cx="1895752" cy="580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EBCDA-F965-AA38-630D-34378696C8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23250" y="3423602"/>
            <a:ext cx="3657597" cy="640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9B4CA3-3C2B-C491-698D-3CFE9CD311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47377" y="-57150"/>
            <a:ext cx="18582752" cy="104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2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751CF-7143-1D0B-CEDE-F488CC00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162F8344-B53D-1960-19AF-A3A9933C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5012" y="444797"/>
            <a:ext cx="1895752" cy="5804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779D1C-4D8B-0855-8012-870C0D7E8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" y="8091"/>
            <a:ext cx="18281026" cy="102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37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520A1-562A-E0A8-3712-BF6C5E1F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0388FF4F-9F7B-5B74-612B-06B93A252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5012" y="444797"/>
            <a:ext cx="1895752" cy="5804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848D2F-C049-CDE5-2CBE-DABDD592D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724" y="-68033"/>
            <a:ext cx="18479448" cy="1042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03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10960-D581-07C7-46B2-ED43CCD4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19EDC112-DDC7-5EFF-AC4A-97B59A04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5012" y="444797"/>
            <a:ext cx="1895752" cy="580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D04EBF-F402-D309-D0DB-F9B9F948F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586" y="-258097"/>
            <a:ext cx="18433171" cy="1080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44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F1175-73EA-F2C1-8002-315996EF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ângulo 62">
            <a:extLst>
              <a:ext uri="{FF2B5EF4-FFF2-40B4-BE49-F238E27FC236}">
                <a16:creationId xmlns:a16="http://schemas.microsoft.com/office/drawing/2014/main" id="{99136C98-6B83-61C1-91D6-F7A22FE0EA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76200" y="-57150"/>
            <a:ext cx="18440400" cy="10401300"/>
          </a:xfrm>
          <a:prstGeom prst="rect">
            <a:avLst/>
          </a:prstGeom>
          <a:solidFill>
            <a:srgbClr val="066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53" name="Group 18">
            <a:extLst>
              <a:ext uri="{FF2B5EF4-FFF2-40B4-BE49-F238E27FC236}">
                <a16:creationId xmlns:a16="http://schemas.microsoft.com/office/drawing/2014/main" id="{D81680B1-6F5F-3B03-97F7-D2C2FCB260D1}"/>
              </a:ext>
            </a:extLst>
          </p:cNvPr>
          <p:cNvGrpSpPr>
            <a:grpSpLocks noChangeAspect="1"/>
          </p:cNvGrpSpPr>
          <p:nvPr/>
        </p:nvGrpSpPr>
        <p:grpSpPr>
          <a:xfrm>
            <a:off x="7772400" y="1785461"/>
            <a:ext cx="2743200" cy="2743200"/>
            <a:chOff x="0" y="0"/>
            <a:chExt cx="6350000" cy="6350000"/>
          </a:xfrm>
          <a:solidFill>
            <a:schemeClr val="bg1"/>
          </a:solidFill>
        </p:grpSpPr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83FC7960-691A-C423-63CD-2DA5EA153F3B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2">
            <a:extLst>
              <a:ext uri="{FF2B5EF4-FFF2-40B4-BE49-F238E27FC236}">
                <a16:creationId xmlns:a16="http://schemas.microsoft.com/office/drawing/2014/main" id="{7D9AEF99-4C00-54F3-E42A-14BDDDDD66CD}"/>
              </a:ext>
            </a:extLst>
          </p:cNvPr>
          <p:cNvSpPr txBox="1"/>
          <p:nvPr/>
        </p:nvSpPr>
        <p:spPr>
          <a:xfrm>
            <a:off x="-76200" y="-72820"/>
            <a:ext cx="184404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u="none" dirty="0">
                <a:solidFill>
                  <a:schemeClr val="bg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FERRAMENTAS</a:t>
            </a:r>
            <a:r>
              <a:rPr lang="en-US" sz="9000" b="1" dirty="0">
                <a:solidFill>
                  <a:schemeClr val="bg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E TECNOLOGIAS</a:t>
            </a:r>
            <a:endParaRPr lang="en-US" sz="9000" b="1" u="none" dirty="0">
              <a:solidFill>
                <a:schemeClr val="bg1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6232E8B6-EE2E-3A76-E562-FC1493F9C701}"/>
              </a:ext>
            </a:extLst>
          </p:cNvPr>
          <p:cNvSpPr/>
          <p:nvPr/>
        </p:nvSpPr>
        <p:spPr>
          <a:xfrm>
            <a:off x="12344400" y="1781174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reeform 19">
            <a:extLst>
              <a:ext uri="{FF2B5EF4-FFF2-40B4-BE49-F238E27FC236}">
                <a16:creationId xmlns:a16="http://schemas.microsoft.com/office/drawing/2014/main" id="{8FD7E777-B0C0-4C14-ABC3-1D9D2FB92F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8" y="1781174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62767926-66BA-6C16-AC9D-4F818CD66176}"/>
              </a:ext>
            </a:extLst>
          </p:cNvPr>
          <p:cNvSpPr/>
          <p:nvPr/>
        </p:nvSpPr>
        <p:spPr>
          <a:xfrm>
            <a:off x="12344400" y="637222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Freeform 19">
            <a:extLst>
              <a:ext uri="{FF2B5EF4-FFF2-40B4-BE49-F238E27FC236}">
                <a16:creationId xmlns:a16="http://schemas.microsoft.com/office/drawing/2014/main" id="{FECBAD16-625D-8891-14B6-CE10C5DA1904}"/>
              </a:ext>
            </a:extLst>
          </p:cNvPr>
          <p:cNvSpPr/>
          <p:nvPr/>
        </p:nvSpPr>
        <p:spPr>
          <a:xfrm>
            <a:off x="7772400" y="637222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Freeform 19">
            <a:extLst>
              <a:ext uri="{FF2B5EF4-FFF2-40B4-BE49-F238E27FC236}">
                <a16:creationId xmlns:a16="http://schemas.microsoft.com/office/drawing/2014/main" id="{C26C0015-0802-E9C9-D780-E01DE0462995}"/>
              </a:ext>
            </a:extLst>
          </p:cNvPr>
          <p:cNvSpPr/>
          <p:nvPr/>
        </p:nvSpPr>
        <p:spPr>
          <a:xfrm>
            <a:off x="3200398" y="6378368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FB5FC60-57EC-5190-0D00-B0199949F7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103" y="6829425"/>
            <a:ext cx="1887794" cy="1828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1200E38-F551-BD7D-5C10-D7E930E06F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992" y="6829425"/>
            <a:ext cx="1776972" cy="1828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D9D24C-EB10-5630-9726-C80587E531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868" y="6829425"/>
            <a:ext cx="1965461" cy="182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D791ACC-9D7D-AA48-0A8F-A50A58A56C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320" y="2466974"/>
            <a:ext cx="2013358" cy="1371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C55E66A-D7CA-4127-E066-C3D95749C6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325" y="2466974"/>
            <a:ext cx="2239347" cy="13716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7E75FBE-7A48-4B10-3FDB-6DC8B2B4ECA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0" y="2238374"/>
            <a:ext cx="1828800" cy="1828800"/>
          </a:xfrm>
          <a:prstGeom prst="rect">
            <a:avLst/>
          </a:prstGeom>
        </p:spPr>
      </p:pic>
      <p:sp>
        <p:nvSpPr>
          <p:cNvPr id="36" name="Freeform 19">
            <a:extLst>
              <a:ext uri="{FF2B5EF4-FFF2-40B4-BE49-F238E27FC236}">
                <a16:creationId xmlns:a16="http://schemas.microsoft.com/office/drawing/2014/main" id="{D4D65D68-49A0-31AD-F6BC-DF55AA1F2C98}"/>
              </a:ext>
            </a:extLst>
          </p:cNvPr>
          <p:cNvSpPr/>
          <p:nvPr/>
        </p:nvSpPr>
        <p:spPr>
          <a:xfrm>
            <a:off x="5281125" y="40005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Freeform 19">
            <a:extLst>
              <a:ext uri="{FF2B5EF4-FFF2-40B4-BE49-F238E27FC236}">
                <a16:creationId xmlns:a16="http://schemas.microsoft.com/office/drawing/2014/main" id="{2900BE97-98BC-835A-989E-922A9FE31B52}"/>
              </a:ext>
            </a:extLst>
          </p:cNvPr>
          <p:cNvSpPr/>
          <p:nvPr/>
        </p:nvSpPr>
        <p:spPr>
          <a:xfrm>
            <a:off x="10263672" y="40005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503F4BF-CFDB-1440-821A-236825EB2B4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127" y="4457700"/>
            <a:ext cx="1219200" cy="1828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3840E5B-E862-A998-CCED-6259533672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260" y="4348162"/>
            <a:ext cx="1731408" cy="182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B5A483-AF30-7A08-B40F-9401F4F8F4E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73925"/>
            <a:ext cx="2182529" cy="71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93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1306D-6ED4-DE28-0113-4302586E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ângulo 62">
            <a:extLst>
              <a:ext uri="{FF2B5EF4-FFF2-40B4-BE49-F238E27FC236}">
                <a16:creationId xmlns:a16="http://schemas.microsoft.com/office/drawing/2014/main" id="{93F6BBE6-115E-8EBB-C4E8-71F0DC300A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76200" y="-57150"/>
            <a:ext cx="18440400" cy="1040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0BE1D-F590-8585-8BBF-463ECEEF4E61}"/>
              </a:ext>
            </a:extLst>
          </p:cNvPr>
          <p:cNvSpPr/>
          <p:nvPr/>
        </p:nvSpPr>
        <p:spPr>
          <a:xfrm>
            <a:off x="-76199" y="5143500"/>
            <a:ext cx="18440400" cy="5200650"/>
          </a:xfrm>
          <a:prstGeom prst="rect">
            <a:avLst/>
          </a:prstGeom>
          <a:solidFill>
            <a:srgbClr val="066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48F7569-5CE6-6563-2DAE-A5FFA26DCC5A}"/>
              </a:ext>
            </a:extLst>
          </p:cNvPr>
          <p:cNvSpPr txBox="1"/>
          <p:nvPr/>
        </p:nvSpPr>
        <p:spPr>
          <a:xfrm>
            <a:off x="-76200" y="-72820"/>
            <a:ext cx="184404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066ED6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ATRIBUIÇÕES</a:t>
            </a:r>
            <a:endParaRPr lang="en-US" sz="9000" b="1" u="none" dirty="0">
              <a:solidFill>
                <a:srgbClr val="066ED6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AB92B-AAED-FF39-D6B3-B20FBE024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363" y="263139"/>
            <a:ext cx="2182529" cy="713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A2F89-B11F-4B12-8858-07293D273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9" y="3729613"/>
            <a:ext cx="274320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FDC212-8A99-FB31-C8A7-332718EB1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426" y="3769625"/>
            <a:ext cx="274320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8128FF-24C5-0078-29C6-222C5031C6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374" y="3769625"/>
            <a:ext cx="274320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7B5ED8-C769-09DB-EDED-26446AC555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933" y="3729613"/>
            <a:ext cx="2743200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C79296-0C4C-55CE-603F-BE39208FE9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251" y="3729613"/>
            <a:ext cx="2743200" cy="2743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9EE41D-EDC3-0990-65F6-1AD04FD268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6692" y="3729613"/>
            <a:ext cx="2743200" cy="274320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A11BEAF-C295-8AB5-2E95-5CCE31F98C58}"/>
              </a:ext>
            </a:extLst>
          </p:cNvPr>
          <p:cNvSpPr/>
          <p:nvPr/>
        </p:nvSpPr>
        <p:spPr>
          <a:xfrm>
            <a:off x="3231426" y="6829425"/>
            <a:ext cx="27432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Decalotype Bold" panose="020B0604020202020204" charset="0"/>
              </a:rPr>
              <a:t>Documentação</a:t>
            </a:r>
            <a:r>
              <a:rPr lang="en-US" sz="2500" dirty="0">
                <a:solidFill>
                  <a:schemeClr val="tx1"/>
                </a:solidFill>
                <a:latin typeface="Decalotype Bold" panose="020B0604020202020204" charset="0"/>
              </a:rPr>
              <a:t> e </a:t>
            </a:r>
          </a:p>
          <a:p>
            <a:pPr algn="ctr"/>
            <a:r>
              <a:rPr lang="en-US" sz="2500" dirty="0">
                <a:solidFill>
                  <a:schemeClr val="tx1"/>
                </a:solidFill>
                <a:latin typeface="Decalotype Bold" panose="020B0604020202020204" charset="0"/>
              </a:rPr>
              <a:t>Design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B53C5B8-97D9-16AE-F9F6-99099CD5EFBF}"/>
              </a:ext>
            </a:extLst>
          </p:cNvPr>
          <p:cNvSpPr/>
          <p:nvPr/>
        </p:nvSpPr>
        <p:spPr>
          <a:xfrm>
            <a:off x="6228933" y="6829425"/>
            <a:ext cx="27432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Decalotype Bold" panose="020B0604020202020204" charset="0"/>
              </a:rPr>
              <a:t>Documentação</a:t>
            </a:r>
            <a:r>
              <a:rPr lang="en-US" sz="2500" dirty="0">
                <a:solidFill>
                  <a:schemeClr val="tx1"/>
                </a:solidFill>
                <a:latin typeface="Decalotype Bold" panose="020B0604020202020204" charset="0"/>
              </a:rPr>
              <a:t> e Front-end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0A5C801-17CF-AE0E-4318-791EBBC5FA29}"/>
              </a:ext>
            </a:extLst>
          </p:cNvPr>
          <p:cNvSpPr/>
          <p:nvPr/>
        </p:nvSpPr>
        <p:spPr>
          <a:xfrm>
            <a:off x="9282251" y="6829425"/>
            <a:ext cx="27432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  <a:latin typeface="Decalotype Bold" panose="020B0604020202020204" charset="0"/>
              </a:rPr>
              <a:t>Banco de dados e</a:t>
            </a:r>
          </a:p>
          <a:p>
            <a:pPr algn="ctr"/>
            <a:r>
              <a:rPr lang="en-US" sz="2500" dirty="0" err="1">
                <a:solidFill>
                  <a:schemeClr val="tx1"/>
                </a:solidFill>
                <a:latin typeface="Decalotype Bold" panose="020B0604020202020204" charset="0"/>
              </a:rPr>
              <a:t>Virtualização</a:t>
            </a:r>
            <a:endParaRPr lang="en-US" sz="2500" dirty="0">
              <a:solidFill>
                <a:schemeClr val="tx1"/>
              </a:solidFill>
              <a:latin typeface="Decalotype Bold" panose="020B060402020202020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426B964-0F99-3A83-5618-DBF52019DDAE}"/>
              </a:ext>
            </a:extLst>
          </p:cNvPr>
          <p:cNvSpPr/>
          <p:nvPr/>
        </p:nvSpPr>
        <p:spPr>
          <a:xfrm>
            <a:off x="12313374" y="6829425"/>
            <a:ext cx="27432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  <a:latin typeface="Decalotype Bold" panose="020B0604020202020204" charset="0"/>
              </a:rPr>
              <a:t>Back-end e</a:t>
            </a:r>
          </a:p>
          <a:p>
            <a:pPr algn="ctr"/>
            <a:r>
              <a:rPr lang="en-US" sz="2500" dirty="0" err="1">
                <a:solidFill>
                  <a:schemeClr val="tx1"/>
                </a:solidFill>
                <a:latin typeface="Decalotype Bold" panose="020B0604020202020204" charset="0"/>
              </a:rPr>
              <a:t>Lógicas</a:t>
            </a:r>
            <a:endParaRPr lang="en-US" sz="2500" dirty="0">
              <a:solidFill>
                <a:schemeClr val="tx1"/>
              </a:solidFill>
              <a:latin typeface="Decalotype Bold" panose="020B060402020202020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EC7F75-B5E8-5120-A514-AB78CF828FC0}"/>
              </a:ext>
            </a:extLst>
          </p:cNvPr>
          <p:cNvSpPr/>
          <p:nvPr/>
        </p:nvSpPr>
        <p:spPr>
          <a:xfrm>
            <a:off x="15338787" y="6829425"/>
            <a:ext cx="27432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  <a:latin typeface="Decalotype Bold" panose="020B0604020202020204" charset="0"/>
              </a:rPr>
              <a:t>Back-end e</a:t>
            </a:r>
          </a:p>
          <a:p>
            <a:pPr algn="ctr"/>
            <a:r>
              <a:rPr lang="en-US" sz="2500" dirty="0" err="1">
                <a:solidFill>
                  <a:schemeClr val="tx1"/>
                </a:solidFill>
                <a:latin typeface="Decalotype Bold" panose="020B0604020202020204" charset="0"/>
              </a:rPr>
              <a:t>infraestrutura</a:t>
            </a:r>
            <a:endParaRPr lang="en-US" sz="2500" dirty="0">
              <a:solidFill>
                <a:schemeClr val="tx1"/>
              </a:solidFill>
              <a:latin typeface="Decalotype Bold" panose="020B060402020202020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97C47C4-A610-E78D-2EA0-BE61AEC584E6}"/>
              </a:ext>
            </a:extLst>
          </p:cNvPr>
          <p:cNvSpPr/>
          <p:nvPr/>
        </p:nvSpPr>
        <p:spPr>
          <a:xfrm>
            <a:off x="178108" y="6829425"/>
            <a:ext cx="27432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  <a:latin typeface="Decalotype Bold" panose="020B0604020202020204" charset="0"/>
              </a:rPr>
              <a:t>Back-end e </a:t>
            </a:r>
          </a:p>
          <a:p>
            <a:pPr algn="ctr"/>
            <a:r>
              <a:rPr lang="en-US" sz="2500" dirty="0" err="1">
                <a:solidFill>
                  <a:schemeClr val="tx1"/>
                </a:solidFill>
                <a:latin typeface="Decalotype Bold" panose="020B0604020202020204" charset="0"/>
              </a:rPr>
              <a:t>Lógicas</a:t>
            </a:r>
            <a:endParaRPr lang="en-US" sz="2500" dirty="0">
              <a:solidFill>
                <a:schemeClr val="tx1"/>
              </a:solidFill>
              <a:latin typeface="Decalotype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821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614815"/>
          </a:xfrm>
          <a:custGeom>
            <a:avLst/>
            <a:gdLst/>
            <a:ahLst/>
            <a:cxnLst/>
            <a:rect l="l" t="t" r="r" b="b"/>
            <a:pathLst>
              <a:path w="18288000" h="3614815">
                <a:moveTo>
                  <a:pt x="0" y="0"/>
                </a:moveTo>
                <a:lnTo>
                  <a:pt x="18288000" y="0"/>
                </a:lnTo>
                <a:lnTo>
                  <a:pt x="18288000" y="3614815"/>
                </a:lnTo>
                <a:lnTo>
                  <a:pt x="0" y="3614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179698" b="-997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3646091"/>
            <a:ext cx="18288000" cy="667218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828800" y="4537810"/>
            <a:ext cx="14630400" cy="2962349"/>
            <a:chOff x="0" y="-129595"/>
            <a:chExt cx="9362700" cy="3698177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362700" cy="1729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endParaRPr lang="en-US" sz="9000" b="1" u="none">
                <a:solidFill>
                  <a:srgbClr val="191919"/>
                </a:solidFill>
                <a:latin typeface="Decalotype Bold"/>
                <a:ea typeface="Decalotype Bold"/>
                <a:cs typeface="Decalotype Bold"/>
                <a:sym typeface="Decalotype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423" y="-129595"/>
              <a:ext cx="8753854" cy="36981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25"/>
                </a:lnSpc>
              </a:pPr>
              <a:r>
                <a:rPr lang="en-US" sz="3200" dirty="0">
                  <a:latin typeface="Public Sans" panose="020B0604020202020204" charset="0"/>
                </a:rPr>
                <a:t>O </a:t>
              </a:r>
              <a:r>
                <a:rPr lang="en-US" sz="3200" dirty="0" err="1">
                  <a:latin typeface="Public Sans" panose="020B0604020202020204" charset="0"/>
                </a:rPr>
                <a:t>projeto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TechVita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propõe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uma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solução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eficiente</a:t>
              </a:r>
              <a:r>
                <a:rPr lang="en-US" sz="3200" dirty="0">
                  <a:latin typeface="Public Sans" panose="020B0604020202020204" charset="0"/>
                </a:rPr>
                <a:t> para o </a:t>
              </a:r>
              <a:r>
                <a:rPr lang="en-US" sz="3200" dirty="0" err="1">
                  <a:latin typeface="Public Sans" panose="020B0604020202020204" charset="0"/>
                </a:rPr>
                <a:t>monitoramento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contínuo</a:t>
              </a:r>
              <a:r>
                <a:rPr lang="en-US" sz="3200" dirty="0">
                  <a:latin typeface="Public Sans" panose="020B0604020202020204" charset="0"/>
                </a:rPr>
                <a:t> da </a:t>
              </a:r>
              <a:r>
                <a:rPr lang="en-US" sz="3200" dirty="0" err="1">
                  <a:latin typeface="Public Sans" panose="020B0604020202020204" charset="0"/>
                </a:rPr>
                <a:t>temperatura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em</a:t>
              </a:r>
              <a:r>
                <a:rPr lang="en-US" sz="3200" dirty="0">
                  <a:latin typeface="Public Sans" panose="020B0604020202020204" charset="0"/>
                </a:rPr>
                <a:t> UTIs, </a:t>
              </a:r>
              <a:r>
                <a:rPr lang="en-US" sz="3200" dirty="0" err="1">
                  <a:latin typeface="Public Sans" panose="020B0604020202020204" charset="0"/>
                </a:rPr>
                <a:t>reduzindo</a:t>
              </a:r>
              <a:r>
                <a:rPr lang="en-US" sz="3200" dirty="0">
                  <a:latin typeface="Public Sans" panose="020B0604020202020204" charset="0"/>
                </a:rPr>
                <a:t> a </a:t>
              </a:r>
              <a:r>
                <a:rPr lang="en-US" sz="3200" dirty="0" err="1">
                  <a:latin typeface="Public Sans" panose="020B0604020202020204" charset="0"/>
                </a:rPr>
                <a:t>necessidade</a:t>
              </a:r>
              <a:r>
                <a:rPr lang="en-US" sz="3200" dirty="0">
                  <a:latin typeface="Public Sans" panose="020B0604020202020204" charset="0"/>
                </a:rPr>
                <a:t> de </a:t>
              </a:r>
              <a:r>
                <a:rPr lang="en-US" sz="3200" dirty="0" err="1">
                  <a:latin typeface="Public Sans" panose="020B0604020202020204" charset="0"/>
                </a:rPr>
                <a:t>monitoramento</a:t>
              </a:r>
              <a:r>
                <a:rPr lang="en-US" sz="3200" dirty="0">
                  <a:latin typeface="Public Sans" panose="020B0604020202020204" charset="0"/>
                </a:rPr>
                <a:t> manual e </a:t>
              </a:r>
              <a:r>
                <a:rPr lang="en-US" sz="3200" dirty="0" err="1">
                  <a:latin typeface="Public Sans" panose="020B0604020202020204" charset="0"/>
                </a:rPr>
                <a:t>permitindo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respostas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rápidas</a:t>
              </a:r>
              <a:r>
                <a:rPr lang="en-US" sz="3200" dirty="0">
                  <a:latin typeface="Public Sans" panose="020B0604020202020204" charset="0"/>
                </a:rPr>
                <a:t> a </a:t>
              </a:r>
              <a:r>
                <a:rPr lang="en-US" sz="3200" dirty="0" err="1">
                  <a:latin typeface="Public Sans" panose="020B0604020202020204" charset="0"/>
                </a:rPr>
                <a:t>variações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térmicas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críticas</a:t>
              </a:r>
              <a:r>
                <a:rPr lang="en-US" sz="3200" dirty="0">
                  <a:latin typeface="Public Sans" panose="020B0604020202020204" charset="0"/>
                </a:rPr>
                <a:t>. Por </a:t>
              </a:r>
              <a:r>
                <a:rPr lang="en-US" sz="3200" dirty="0" err="1">
                  <a:latin typeface="Public Sans" panose="020B0604020202020204" charset="0"/>
                </a:rPr>
                <a:t>meio</a:t>
              </a:r>
              <a:r>
                <a:rPr lang="en-US" sz="3200" dirty="0">
                  <a:latin typeface="Public Sans" panose="020B0604020202020204" charset="0"/>
                </a:rPr>
                <a:t> da </a:t>
              </a:r>
              <a:r>
                <a:rPr lang="en-US" sz="3200" dirty="0" err="1">
                  <a:latin typeface="Public Sans" panose="020B0604020202020204" charset="0"/>
                </a:rPr>
                <a:t>utilização</a:t>
              </a:r>
              <a:r>
                <a:rPr lang="en-US" sz="3200" dirty="0">
                  <a:latin typeface="Public Sans" panose="020B0604020202020204" charset="0"/>
                </a:rPr>
                <a:t> de </a:t>
              </a:r>
              <a:r>
                <a:rPr lang="en-US" sz="3200" dirty="0" err="1">
                  <a:latin typeface="Public Sans" panose="020B0604020202020204" charset="0"/>
                </a:rPr>
                <a:t>tecnologias</a:t>
              </a:r>
              <a:r>
                <a:rPr lang="en-US" sz="3200" dirty="0">
                  <a:latin typeface="Public Sans" panose="020B0604020202020204" charset="0"/>
                </a:rPr>
                <a:t> IoT e </a:t>
              </a:r>
              <a:r>
                <a:rPr lang="en-US" sz="3200" dirty="0" err="1">
                  <a:latin typeface="Public Sans" panose="020B0604020202020204" charset="0"/>
                </a:rPr>
                <a:t>automação</a:t>
              </a:r>
              <a:r>
                <a:rPr lang="en-US" sz="3200" dirty="0">
                  <a:latin typeface="Public Sans" panose="020B0604020202020204" charset="0"/>
                </a:rPr>
                <a:t>, a </a:t>
              </a:r>
              <a:r>
                <a:rPr lang="en-US" sz="3200" dirty="0" err="1">
                  <a:latin typeface="Public Sans" panose="020B0604020202020204" charset="0"/>
                </a:rPr>
                <a:t>solução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contribui</a:t>
              </a:r>
              <a:r>
                <a:rPr lang="en-US" sz="3200" dirty="0">
                  <a:latin typeface="Public Sans" panose="020B0604020202020204" charset="0"/>
                </a:rPr>
                <a:t> para a </a:t>
              </a:r>
              <a:r>
                <a:rPr lang="en-US" sz="3200" dirty="0" err="1">
                  <a:latin typeface="Public Sans" panose="020B0604020202020204" charset="0"/>
                </a:rPr>
                <a:t>segurança</a:t>
              </a:r>
              <a:r>
                <a:rPr lang="en-US" sz="3200" dirty="0">
                  <a:latin typeface="Public Sans" panose="020B0604020202020204" charset="0"/>
                </a:rPr>
                <a:t> dos </a:t>
              </a:r>
              <a:r>
                <a:rPr lang="en-US" sz="3200" dirty="0" err="1">
                  <a:latin typeface="Public Sans" panose="020B0604020202020204" charset="0"/>
                </a:rPr>
                <a:t>pacientes</a:t>
              </a:r>
              <a:r>
                <a:rPr lang="en-US" sz="3200" dirty="0">
                  <a:latin typeface="Public Sans" panose="020B0604020202020204" charset="0"/>
                </a:rPr>
                <a:t>, a </a:t>
              </a:r>
              <a:r>
                <a:rPr lang="en-US" sz="3200" dirty="0" err="1">
                  <a:latin typeface="Public Sans" panose="020B0604020202020204" charset="0"/>
                </a:rPr>
                <a:t>otimização</a:t>
              </a:r>
              <a:r>
                <a:rPr lang="en-US" sz="3200" dirty="0">
                  <a:latin typeface="Public Sans" panose="020B0604020202020204" charset="0"/>
                </a:rPr>
                <a:t> do </a:t>
              </a:r>
              <a:r>
                <a:rPr lang="en-US" sz="3200" dirty="0" err="1">
                  <a:latin typeface="Public Sans" panose="020B0604020202020204" charset="0"/>
                </a:rPr>
                <a:t>trabalho</a:t>
              </a:r>
              <a:r>
                <a:rPr lang="en-US" sz="3200" dirty="0">
                  <a:latin typeface="Public Sans" panose="020B0604020202020204" charset="0"/>
                </a:rPr>
                <a:t> da equipe de </a:t>
              </a:r>
              <a:r>
                <a:rPr lang="en-US" sz="3200" dirty="0" err="1">
                  <a:latin typeface="Public Sans" panose="020B0604020202020204" charset="0"/>
                </a:rPr>
                <a:t>enfermagem</a:t>
              </a:r>
              <a:r>
                <a:rPr lang="en-US" sz="3200" dirty="0">
                  <a:latin typeface="Public Sans" panose="020B0604020202020204" charset="0"/>
                </a:rPr>
                <a:t> e a </a:t>
              </a:r>
              <a:r>
                <a:rPr lang="en-US" sz="3200" dirty="0" err="1">
                  <a:latin typeface="Public Sans" panose="020B0604020202020204" charset="0"/>
                </a:rPr>
                <a:t>melhoria</a:t>
              </a:r>
              <a:r>
                <a:rPr lang="en-US" sz="3200" dirty="0">
                  <a:latin typeface="Public Sans" panose="020B0604020202020204" charset="0"/>
                </a:rPr>
                <a:t> da </a:t>
              </a:r>
              <a:r>
                <a:rPr lang="en-US" sz="3200" dirty="0" err="1">
                  <a:latin typeface="Public Sans" panose="020B0604020202020204" charset="0"/>
                </a:rPr>
                <a:t>qualidade</a:t>
              </a:r>
              <a:r>
                <a:rPr lang="en-US" sz="3200" dirty="0">
                  <a:latin typeface="Public Sans" panose="020B0604020202020204" charset="0"/>
                </a:rPr>
                <a:t> do </a:t>
              </a:r>
              <a:r>
                <a:rPr lang="en-US" sz="3200" dirty="0" err="1">
                  <a:latin typeface="Public Sans" panose="020B0604020202020204" charset="0"/>
                </a:rPr>
                <a:t>atendimento</a:t>
              </a:r>
              <a:r>
                <a:rPr lang="en-US" sz="3200" dirty="0">
                  <a:latin typeface="Public Sans" panose="020B0604020202020204" charset="0"/>
                </a:rPr>
                <a:t> </a:t>
              </a:r>
              <a:r>
                <a:rPr lang="en-US" sz="3200" dirty="0" err="1">
                  <a:latin typeface="Public Sans" panose="020B0604020202020204" charset="0"/>
                </a:rPr>
                <a:t>hospitalar</a:t>
              </a:r>
              <a:r>
                <a:rPr lang="en-US" sz="3200" dirty="0">
                  <a:latin typeface="Public Sans" panose="020B0604020202020204" charset="0"/>
                </a:rPr>
                <a:t>.</a:t>
              </a:r>
              <a:endParaRPr lang="en-US" sz="3200" dirty="0">
                <a:solidFill>
                  <a:srgbClr val="191919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81200" y="1019175"/>
            <a:ext cx="1432560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CONCLUSÃO</a:t>
            </a:r>
            <a:endParaRPr lang="en-US" sz="9000" b="1" u="none" dirty="0">
              <a:solidFill>
                <a:srgbClr val="FFFFFF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pic>
        <p:nvPicPr>
          <p:cNvPr id="5" name="Imagem 4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3B96F963-D146-6ACA-C6F8-1D4C340A0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111" y="7896225"/>
            <a:ext cx="447977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628414"/>
            <a:ext cx="9144000" cy="10915414"/>
          </a:xfrm>
          <a:custGeom>
            <a:avLst/>
            <a:gdLst/>
            <a:ahLst/>
            <a:cxnLst/>
            <a:rect l="l" t="t" r="r" b="b"/>
            <a:pathLst>
              <a:path w="9144000" h="10915414">
                <a:moveTo>
                  <a:pt x="0" y="0"/>
                </a:moveTo>
                <a:lnTo>
                  <a:pt x="9144000" y="0"/>
                </a:lnTo>
                <a:lnTo>
                  <a:pt x="9144000" y="10915414"/>
                </a:lnTo>
                <a:lnTo>
                  <a:pt x="0" y="1091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26" r="-703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1160568">
            <a:off x="-711276" y="1512352"/>
            <a:ext cx="12070388" cy="1110838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 rot="-5400000">
            <a:off x="11463681" y="3462681"/>
            <a:ext cx="5333427" cy="8315211"/>
            <a:chOff x="0" y="0"/>
            <a:chExt cx="4381320" cy="68308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1320" cy="6830804"/>
            </a:xfrm>
            <a:custGeom>
              <a:avLst/>
              <a:gdLst/>
              <a:ahLst/>
              <a:cxnLst/>
              <a:rect l="l" t="t" r="r" b="b"/>
              <a:pathLst>
                <a:path w="4381320" h="6830804">
                  <a:moveTo>
                    <a:pt x="4381320" y="6830804"/>
                  </a:moveTo>
                  <a:lnTo>
                    <a:pt x="0" y="6830804"/>
                  </a:lnTo>
                  <a:lnTo>
                    <a:pt x="0" y="0"/>
                  </a:lnTo>
                  <a:lnTo>
                    <a:pt x="4381320" y="6830804"/>
                  </a:lnTo>
                  <a:close/>
                </a:path>
              </a:pathLst>
            </a:custGeom>
            <a:solidFill>
              <a:srgbClr val="05289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3524356"/>
            <a:ext cx="7680254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19"/>
              </a:lnSpc>
              <a:spcBef>
                <a:spcPct val="0"/>
              </a:spcBef>
            </a:pPr>
            <a:r>
              <a:rPr lang="en-US" sz="11100" b="1" u="none" dirty="0">
                <a:solidFill>
                  <a:srgbClr val="191919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OBRIGADO!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062C9-8D5E-64E9-D360-C578386E7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7767" y="9240809"/>
            <a:ext cx="2182529" cy="713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529</Words>
  <Application>Microsoft Office PowerPoint</Application>
  <PresentationFormat>Custom</PresentationFormat>
  <Paragraphs>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Decalotype Bold</vt:lpstr>
      <vt:lpstr>Public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Vendas em Azul e Vermelho com Blocos Diagonais sobre Relatório de Vendas</dc:title>
  <dc:creator>Leaxdro</dc:creator>
  <cp:lastModifiedBy>LEANDRO BEZERRA MENDES</cp:lastModifiedBy>
  <cp:revision>17</cp:revision>
  <dcterms:created xsi:type="dcterms:W3CDTF">2006-08-16T00:00:00Z</dcterms:created>
  <dcterms:modified xsi:type="dcterms:W3CDTF">2026-06-09T00:38:36Z</dcterms:modified>
  <dc:identifier>DAHG9Msbi38</dc:identifier>
</cp:coreProperties>
</file>