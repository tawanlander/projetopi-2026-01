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3" r:id="rId8"/>
    <p:sldId id="261" r:id="rId9"/>
    <p:sldId id="268" r:id="rId10"/>
    <p:sldId id="282" r:id="rId11"/>
    <p:sldId id="281" r:id="rId12"/>
    <p:sldId id="270" r:id="rId13"/>
    <p:sldId id="276" r:id="rId14"/>
  </p:sldIdLst>
  <p:sldSz cx="18288000" cy="10287000"/>
  <p:notesSz cx="6858000" cy="9144000"/>
  <p:embeddedFontLst>
    <p:embeddedFont>
      <p:font typeface="Decalotype Bold" panose="020B0604020202020204" charset="0"/>
      <p:regular r:id="rId15"/>
    </p:embeddedFont>
    <p:embeddedFont>
      <p:font typeface="Public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6ED6"/>
    <a:srgbClr val="EA4B33"/>
    <a:srgbClr val="2658E0"/>
    <a:srgbClr val="363CB3"/>
    <a:srgbClr val="052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18A81-512A-475A-DAC9-F3898ECC0F9B}" v="41" dt="2026-04-23T22:23:28.802"/>
    <p1510:client id="{7B189E07-E11D-4AF4-AE65-DA38DE57F41E}" v="50" dt="2026-04-23T17:44:36.831"/>
    <p1510:client id="{B486B05F-DE0E-31A9-F6D3-67FA51465410}" v="104" dt="2026-04-23T18:25:02.452"/>
    <p1510:client id="{F3E3B196-FB2B-36CB-6AB4-815EFBC41220}" v="5" dt="2026-04-23T12:52:48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64"/>
            <a:ext cx="11489055" cy="7052907"/>
          </a:xfrm>
          <a:custGeom>
            <a:avLst/>
            <a:gdLst/>
            <a:ahLst/>
            <a:cxnLst/>
            <a:rect l="l" t="t" r="r" b="b"/>
            <a:pathLst>
              <a:path w="11489055" h="7052907">
                <a:moveTo>
                  <a:pt x="0" y="0"/>
                </a:moveTo>
                <a:lnTo>
                  <a:pt x="11489055" y="0"/>
                </a:lnTo>
                <a:lnTo>
                  <a:pt x="11489055" y="7052906"/>
                </a:lnTo>
                <a:lnTo>
                  <a:pt x="0" y="7052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19" b="-4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2504656">
            <a:off x="5773080" y="-153655"/>
            <a:ext cx="15921804" cy="1278862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219073" y="-219073"/>
            <a:ext cx="4716515" cy="5154662"/>
            <a:chOff x="0" y="0"/>
            <a:chExt cx="6869494" cy="7507644"/>
          </a:xfrm>
          <a:solidFill>
            <a:srgbClr val="EA4B33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6869494" cy="7507645"/>
            </a:xfrm>
            <a:custGeom>
              <a:avLst/>
              <a:gdLst/>
              <a:ahLst/>
              <a:cxnLst/>
              <a:rect l="l" t="t" r="r" b="b"/>
              <a:pathLst>
                <a:path w="6869494" h="7507645">
                  <a:moveTo>
                    <a:pt x="6869494" y="7507645"/>
                  </a:moveTo>
                  <a:lnTo>
                    <a:pt x="0" y="7507645"/>
                  </a:lnTo>
                  <a:lnTo>
                    <a:pt x="0" y="0"/>
                  </a:lnTo>
                  <a:lnTo>
                    <a:pt x="6869494" y="750764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898932" cy="10287000"/>
            <a:chOff x="0" y="0"/>
            <a:chExt cx="8851059" cy="115269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51059" cy="11526982"/>
            </a:xfrm>
            <a:custGeom>
              <a:avLst/>
              <a:gdLst/>
              <a:ahLst/>
              <a:cxnLst/>
              <a:rect l="l" t="t" r="r" b="b"/>
              <a:pathLst>
                <a:path w="8851059" h="11526982">
                  <a:moveTo>
                    <a:pt x="8851059" y="11526982"/>
                  </a:moveTo>
                  <a:lnTo>
                    <a:pt x="0" y="11526982"/>
                  </a:lnTo>
                  <a:lnTo>
                    <a:pt x="0" y="0"/>
                  </a:lnTo>
                  <a:lnTo>
                    <a:pt x="8851059" y="11526982"/>
                  </a:lnTo>
                  <a:close/>
                </a:path>
              </a:pathLst>
            </a:custGeom>
            <a:solidFill>
              <a:srgbClr val="066ED6"/>
            </a:solidFill>
          </p:spPr>
          <p:txBody>
            <a:bodyPr lIns="91440" tIns="45720" rIns="91440" bIns="45720" anchor="t"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17611" y="5899679"/>
            <a:ext cx="8741689" cy="2061590"/>
            <a:chOff x="0" y="1419225"/>
            <a:chExt cx="11655585" cy="2748786"/>
          </a:xfrm>
        </p:grpSpPr>
        <p:sp>
          <p:nvSpPr>
            <p:cNvPr id="9" name="TextBox 9"/>
            <p:cNvSpPr txBox="1"/>
            <p:nvPr/>
          </p:nvSpPr>
          <p:spPr>
            <a:xfrm>
              <a:off x="0" y="1419225"/>
              <a:ext cx="11655585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825"/>
                </a:lnSpc>
              </a:pPr>
              <a:r>
                <a:rPr lang="en-US" sz="9000" b="1" u="none" err="1">
                  <a:solidFill>
                    <a:srgbClr val="191919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ThermoTrack</a:t>
              </a:r>
              <a:endParaRPr lang="en-US" sz="9000" b="1" u="none">
                <a:solidFill>
                  <a:srgbClr val="191919"/>
                </a:solidFill>
                <a:latin typeface="Decalotype Bold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923910"/>
              <a:ext cx="11655585" cy="12441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14"/>
                </a:lnSpc>
              </a:pP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Sistema de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Monitoramento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Contínuo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de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Temperatura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em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Unidades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de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Terapia</a:t>
              </a:r>
              <a:r>
                <a:rPr lang="en-US" sz="2724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724" err="1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Intensiva</a:t>
              </a:r>
              <a:endParaRPr lang="en-US" sz="2724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pic>
        <p:nvPicPr>
          <p:cNvPr id="11" name="Imagem 10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850E369B-AB0F-0C40-442E-B632C87DA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521965">
            <a:off x="-5355263" y="94781"/>
            <a:ext cx="13593765" cy="1009743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38200" y="4011286"/>
            <a:ext cx="6886146" cy="2257278"/>
            <a:chOff x="0" y="-9525"/>
            <a:chExt cx="9181529" cy="3009704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1529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b="1" u="none" err="1">
                  <a:solidFill>
                    <a:srgbClr val="066ED6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Integrantes</a:t>
              </a:r>
              <a:endParaRPr lang="en-US" sz="9000" b="1" u="none">
                <a:solidFill>
                  <a:srgbClr val="066ED6"/>
                </a:solidFill>
                <a:latin typeface="Decalotype Bold"/>
                <a:ea typeface="Decalotype Bold"/>
                <a:cs typeface="Decalotype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17766"/>
              <a:ext cx="9181529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endParaRPr lang="en-US" sz="3200" u="none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195058" y="3666171"/>
            <a:ext cx="1078403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Andressa </a:t>
            </a:r>
            <a:r>
              <a:rPr lang="en-US" sz="3200" err="1">
                <a:solidFill>
                  <a:schemeClr val="bg1"/>
                </a:solidFill>
                <a:latin typeface="Public Sans" panose="020B0604020202020204" charset="0"/>
              </a:rPr>
              <a:t>Lustro</a:t>
            </a: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 Lima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Gabriel Ortiz Dos Anjos </a:t>
            </a:r>
            <a:r>
              <a:rPr lang="en-US" sz="3200" err="1">
                <a:solidFill>
                  <a:schemeClr val="bg1"/>
                </a:solidFill>
                <a:latin typeface="Public Sans" panose="020B0604020202020204" charset="0"/>
              </a:rPr>
              <a:t>Marsura</a:t>
            </a:r>
            <a:endParaRPr lang="en-US" sz="3200">
              <a:solidFill>
                <a:schemeClr val="bg1"/>
              </a:solidFill>
              <a:latin typeface="Public Sans" panose="020B060402020202020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Gustavo de Souza Assis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Leandro Bezerra Mendes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Tawan Lander DA Fonseca Rodrigues De Paula Moura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err="1">
                <a:solidFill>
                  <a:schemeClr val="bg1"/>
                </a:solidFill>
                <a:latin typeface="Public Sans" panose="020B0604020202020204" charset="0"/>
              </a:rPr>
              <a:t>Vínicius</a:t>
            </a:r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 Guimarães Menezes</a:t>
            </a:r>
          </a:p>
        </p:txBody>
      </p:sp>
      <p:pic>
        <p:nvPicPr>
          <p:cNvPr id="8" name="Imagem 7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8DF7B367-7ED8-8E16-A070-FD37D213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1" y="9268506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20831"/>
            <a:ext cx="8716862" cy="3118326"/>
            <a:chOff x="0" y="209551"/>
            <a:chExt cx="11622483" cy="4181202"/>
          </a:xfrm>
        </p:grpSpPr>
        <p:sp>
          <p:nvSpPr>
            <p:cNvPr id="3" name="TextBox 3"/>
            <p:cNvSpPr txBox="1"/>
            <p:nvPr/>
          </p:nvSpPr>
          <p:spPr>
            <a:xfrm>
              <a:off x="0" y="209551"/>
              <a:ext cx="11622483" cy="3581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100"/>
                </a:lnSpc>
              </a:pPr>
              <a:r>
                <a:rPr lang="en-US" sz="8000" b="1" u="none" err="1">
                  <a:solidFill>
                    <a:srgbClr val="FFFFFF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Seguimento</a:t>
              </a:r>
              <a:r>
                <a:rPr lang="en-US" sz="8000" b="1" u="none">
                  <a:solidFill>
                    <a:srgbClr val="FFFFFF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 de Mercado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708340"/>
              <a:ext cx="9173818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 u="none" err="1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Saúde</a:t>
              </a:r>
              <a:r>
                <a:rPr lang="en-US" sz="3200" u="none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Digital (HealthTech)</a:t>
              </a:r>
            </a:p>
          </p:txBody>
        </p:sp>
      </p:grpSp>
      <p:sp>
        <p:nvSpPr>
          <p:cNvPr id="10" name="Retângulo 9">
            <a:extLst>
              <a:ext uri="{FF2B5EF4-FFF2-40B4-BE49-F238E27FC236}">
                <a16:creationId xmlns:a16="http://schemas.microsoft.com/office/drawing/2014/main" id="{19348D1E-0458-BA77-23D2-52AE93ADCC21}"/>
              </a:ext>
            </a:extLst>
          </p:cNvPr>
          <p:cNvSpPr/>
          <p:nvPr/>
        </p:nvSpPr>
        <p:spPr>
          <a:xfrm>
            <a:off x="9144000" y="-62078"/>
            <a:ext cx="9143999" cy="10351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7C9DC3-EA91-E933-05BF-4D1538EB2A89}"/>
              </a:ext>
            </a:extLst>
          </p:cNvPr>
          <p:cNvSpPr txBox="1"/>
          <p:nvPr/>
        </p:nvSpPr>
        <p:spPr>
          <a:xfrm>
            <a:off x="9334499" y="2065734"/>
            <a:ext cx="8763000" cy="61555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sz="8000" b="1">
              <a:solidFill>
                <a:srgbClr val="066ED6"/>
              </a:solidFill>
              <a:latin typeface="Decalotype Bold"/>
            </a:endParaRPr>
          </a:p>
          <a:p>
            <a:pPr algn="ctr"/>
            <a:endParaRPr lang="en-US" sz="2600" b="1">
              <a:latin typeface="Public Sans" panose="020B0604020202020204" charset="0"/>
            </a:endParaRPr>
          </a:p>
          <a:p>
            <a:r>
              <a:rPr lang="pt-BR" sz="3200">
                <a:latin typeface="Public Sans"/>
              </a:rPr>
              <a:t>	A </a:t>
            </a:r>
            <a:r>
              <a:rPr lang="pt-BR" sz="3200" err="1">
                <a:latin typeface="Public Sans"/>
              </a:rPr>
              <a:t>TechVita</a:t>
            </a:r>
            <a:r>
              <a:rPr lang="pt-BR" sz="3200">
                <a:latin typeface="Public Sans"/>
              </a:rPr>
              <a:t> é uma empresa que busca inovar no setor da saúde, com um foco no desenvolvimento de soluções tecnológicas que salvam vidas. Por meio de sistemas com a </a:t>
            </a:r>
            <a:r>
              <a:rPr lang="pt-BR" sz="3200" err="1">
                <a:latin typeface="Public Sans"/>
              </a:rPr>
              <a:t>ThermoTrak</a:t>
            </a:r>
            <a:r>
              <a:rPr lang="pt-BR" sz="3200">
                <a:latin typeface="Public Sans"/>
              </a:rPr>
              <a:t>, uma pulseira de captura de temperatura contínuo e em tempo real. Oferecemos alertas automáticos e suporte técnico as clínicas, melhorando a eficiência e a segurança em UTIs.</a:t>
            </a:r>
          </a:p>
        </p:txBody>
      </p:sp>
      <p:pic>
        <p:nvPicPr>
          <p:cNvPr id="6" name="Imagem 5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8286427F-D043-DFCF-12FE-328EC5C2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084" y="1626734"/>
            <a:ext cx="4932866" cy="15274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114512"/>
            <a:ext cx="18288000" cy="617234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4114512"/>
          </a:xfrm>
          <a:custGeom>
            <a:avLst/>
            <a:gdLst/>
            <a:ahLst/>
            <a:cxnLst/>
            <a:rect l="l" t="t" r="r" b="b"/>
            <a:pathLst>
              <a:path w="18288000" h="4114512">
                <a:moveTo>
                  <a:pt x="0" y="0"/>
                </a:moveTo>
                <a:lnTo>
                  <a:pt x="18288000" y="0"/>
                </a:lnTo>
                <a:lnTo>
                  <a:pt x="18288000" y="4114512"/>
                </a:lnTo>
                <a:lnTo>
                  <a:pt x="0" y="4114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51599" b="-144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203475" y="1019175"/>
            <a:ext cx="988105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u="none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Contexto</a:t>
            </a:r>
            <a:endParaRPr lang="en-US" sz="9000" b="1" u="none">
              <a:solidFill>
                <a:srgbClr val="FFFFFF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3360173" y="2978951"/>
            <a:ext cx="2271122" cy="2271122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5289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56705" y="2978951"/>
            <a:ext cx="2271122" cy="2271122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52896"/>
            </a:solidFill>
          </p:spPr>
          <p:txBody>
            <a:bodyPr lIns="91440" tIns="45720" rIns="91440" bIns="45720" anchor="t"/>
            <a:lstStyle/>
            <a:p>
              <a:endParaRPr lang="en-US">
                <a:solidFill>
                  <a:srgbClr val="066ED6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08439" y="2978951"/>
            <a:ext cx="2271122" cy="2271122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5289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C2A15B4-E1D0-E73D-C506-F13E13D27562}"/>
              </a:ext>
            </a:extLst>
          </p:cNvPr>
          <p:cNvSpPr txBox="1"/>
          <p:nvPr/>
        </p:nvSpPr>
        <p:spPr>
          <a:xfrm>
            <a:off x="2656706" y="5728395"/>
            <a:ext cx="1297458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>
                <a:latin typeface="Public Sans" panose="020B0604020202020204" charset="0"/>
              </a:rPr>
              <a:t>	Em UTIs, a sobrecarga dos profissionais e a dependência do monitoramento manual dificultam a identificação rápida de variações de temperatura, um sinal essencial para detectar complicações clínicas. Esse cenário aumenta os riscos aos pacientes, podendo levar a agravamentos evitáveis e até fatalidades, além de impactar a eficiência e a segurança no cuidado intensivo.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10CF1B47-4FA1-5799-8C38-A24BBAD74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2734" y="2971512"/>
            <a:ext cx="2286000" cy="2286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B47BBF6-D024-91F8-4B0B-83986EFB9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3200112"/>
            <a:ext cx="1828800" cy="18288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E4397A9-1599-F22D-84B3-2A41840D1D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823" y="3200112"/>
            <a:ext cx="1828800" cy="1828800"/>
          </a:xfrm>
          <a:prstGeom prst="rect">
            <a:avLst/>
          </a:prstGeom>
        </p:spPr>
      </p:pic>
      <p:pic>
        <p:nvPicPr>
          <p:cNvPr id="6" name="Imagem 5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B8C5DE95-4C25-0636-55E3-B18E1E7F2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20" y="9383643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001000" y="0"/>
            <a:ext cx="10287000" cy="1028700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857500"/>
            <a:ext cx="10401300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5"/>
              </a:lnSpc>
            </a:pPr>
            <a:r>
              <a:rPr lang="pt-BR" sz="3200">
                <a:latin typeface="Public Sans" panose="020B0604020202020204" charset="0"/>
              </a:rPr>
              <a:t>	O problema central está na falta de monitoramento contínuo da temperatura dos pacientes em UTIs, que ainda depende de medições manuais e periódicas. Essa limitação, somada à sobrecarga da equipe de enfermagem, pode atrasar a identificação de alterações críticas, como febre ou hipotermia, aumentando os riscos à saúde do paciente e reduzindo as chances de intervenção rápida.</a:t>
            </a:r>
            <a:endParaRPr lang="en-US" sz="3200">
              <a:solidFill>
                <a:srgbClr val="191919"/>
              </a:solidFill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019175"/>
            <a:ext cx="892074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9000" b="1" u="none" err="1">
                <a:solidFill>
                  <a:srgbClr val="EA4B33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Problema</a:t>
            </a:r>
            <a:endParaRPr lang="en-US" sz="9000" b="1" u="none">
              <a:solidFill>
                <a:srgbClr val="066ED6"/>
              </a:solidFill>
              <a:latin typeface="Decalotype Bold"/>
              <a:ea typeface="Decalotype Bold"/>
              <a:cs typeface="Decalotype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10385261" y="-199425"/>
            <a:ext cx="7919641" cy="7928443"/>
            <a:chOff x="0" y="0"/>
            <a:chExt cx="6259642" cy="62665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59642" cy="6266599"/>
            </a:xfrm>
            <a:custGeom>
              <a:avLst/>
              <a:gdLst/>
              <a:ahLst/>
              <a:cxnLst/>
              <a:rect l="l" t="t" r="r" b="b"/>
              <a:pathLst>
                <a:path w="6259642" h="6266599">
                  <a:moveTo>
                    <a:pt x="6259642" y="6266599"/>
                  </a:moveTo>
                  <a:lnTo>
                    <a:pt x="0" y="6266599"/>
                  </a:lnTo>
                  <a:lnTo>
                    <a:pt x="0" y="0"/>
                  </a:lnTo>
                  <a:lnTo>
                    <a:pt x="6259642" y="6266599"/>
                  </a:lnTo>
                  <a:close/>
                </a:path>
              </a:pathLst>
            </a:custGeom>
            <a:solidFill>
              <a:srgbClr val="EA4B33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Imagem 4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D0C4E61B-66E2-D710-F341-E8E1BF699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03" y="9278402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577"/>
            <a:ext cx="6962231" cy="10295577"/>
          </a:xfrm>
          <a:custGeom>
            <a:avLst/>
            <a:gdLst/>
            <a:ahLst/>
            <a:cxnLst/>
            <a:rect l="l" t="t" r="r" b="b"/>
            <a:pathLst>
              <a:path w="6962231" h="10295577">
                <a:moveTo>
                  <a:pt x="0" y="0"/>
                </a:moveTo>
                <a:lnTo>
                  <a:pt x="6962231" y="0"/>
                </a:lnTo>
                <a:lnTo>
                  <a:pt x="6962231" y="10295577"/>
                </a:lnTo>
                <a:lnTo>
                  <a:pt x="0" y="10295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3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1861961" y="5186730"/>
            <a:ext cx="3238309" cy="6962231"/>
            <a:chOff x="0" y="0"/>
            <a:chExt cx="5350489" cy="115033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0489" cy="11503332"/>
            </a:xfrm>
            <a:custGeom>
              <a:avLst/>
              <a:gdLst/>
              <a:ahLst/>
              <a:cxnLst/>
              <a:rect l="l" t="t" r="r" b="b"/>
              <a:pathLst>
                <a:path w="5350489" h="11503332">
                  <a:moveTo>
                    <a:pt x="5350489" y="11503332"/>
                  </a:moveTo>
                  <a:lnTo>
                    <a:pt x="0" y="11503332"/>
                  </a:lnTo>
                  <a:lnTo>
                    <a:pt x="0" y="0"/>
                  </a:lnTo>
                  <a:lnTo>
                    <a:pt x="5350489" y="11503332"/>
                  </a:lnTo>
                  <a:close/>
                </a:path>
              </a:pathLst>
            </a:custGeom>
            <a:solidFill>
              <a:srgbClr val="EA4B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67724" y="-8577"/>
            <a:ext cx="7250190" cy="4300062"/>
            <a:chOff x="0" y="0"/>
            <a:chExt cx="11811432" cy="7005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1432" cy="7005319"/>
            </a:xfrm>
            <a:custGeom>
              <a:avLst/>
              <a:gdLst/>
              <a:ahLst/>
              <a:cxnLst/>
              <a:rect l="l" t="t" r="r" b="b"/>
              <a:pathLst>
                <a:path w="11811432" h="7005319">
                  <a:moveTo>
                    <a:pt x="11811432" y="7005319"/>
                  </a:moveTo>
                  <a:lnTo>
                    <a:pt x="0" y="7005319"/>
                  </a:lnTo>
                  <a:lnTo>
                    <a:pt x="0" y="0"/>
                  </a:lnTo>
                  <a:lnTo>
                    <a:pt x="11811432" y="7005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250190" y="1227417"/>
            <a:ext cx="1080921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9000" b="1" u="none" err="1">
                <a:solidFill>
                  <a:srgbClr val="EA4B33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Desafio</a:t>
            </a:r>
            <a:endParaRPr lang="en-US" sz="9000" b="1" u="none">
              <a:solidFill>
                <a:srgbClr val="EA4B33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50190" y="1849220"/>
            <a:ext cx="10809210" cy="3569818"/>
            <a:chOff x="0" y="58420"/>
            <a:chExt cx="8957733" cy="475975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8420"/>
              <a:ext cx="8957733" cy="581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437"/>
                </a:lnSpc>
              </a:pPr>
              <a:endParaRPr lang="en-US" sz="3125" b="1" u="none">
                <a:solidFill>
                  <a:srgbClr val="191919"/>
                </a:solidFill>
                <a:latin typeface="Decalotype Bold" panose="020B0604020202020204" charset="0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492755"/>
              <a:ext cx="8957733" cy="2325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30"/>
                </a:lnSpc>
              </a:pPr>
              <a:r>
                <a:rPr lang="pt-BR" sz="3200">
                  <a:latin typeface="Public Sans" panose="020B0604020202020204" charset="0"/>
                </a:rPr>
                <a:t>	O desafio do projeto é garantir um monitoramento contínuo e confiável da temperatura em um ambiente crítico como a UTI, unindo precisão, alertas eficientes e facilidade de uso para a equipe de enfermagem.</a:t>
              </a:r>
              <a:endParaRPr lang="en-US" sz="3200">
                <a:solidFill>
                  <a:srgbClr val="191919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endParaRPr>
            </a:p>
          </p:txBody>
        </p:sp>
      </p:grpSp>
      <p:pic>
        <p:nvPicPr>
          <p:cNvPr id="9" name="Imagem 8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D86E022D-574C-4C92-3591-188EB6B8D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33129" cy="10287000"/>
          </a:xfrm>
          <a:prstGeom prst="rect">
            <a:avLst/>
          </a:prstGeom>
          <a:solidFill>
            <a:srgbClr val="066ED6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1021556"/>
            <a:ext cx="7633129" cy="99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30"/>
              </a:lnSpc>
              <a:spcBef>
                <a:spcPct val="0"/>
              </a:spcBef>
            </a:pPr>
            <a:r>
              <a:rPr lang="en-US" sz="9000" b="1" u="none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Solução</a:t>
            </a:r>
            <a:endParaRPr lang="en-US" sz="9000" b="1" u="none">
              <a:solidFill>
                <a:srgbClr val="FFFFFF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077200" y="2604343"/>
            <a:ext cx="9892870" cy="425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5"/>
              </a:lnSpc>
            </a:pPr>
            <a:r>
              <a:rPr lang="pt-BR" sz="3200">
                <a:latin typeface="Public Sans" panose="020B0604020202020204" charset="0"/>
              </a:rPr>
              <a:t>	A ThermoTrak é um sistema de monitoramento contínuo da temperatura que utiliza sensores para coletar dados em tempo real e enviar alertas automáticos em casos de variações anormais, auxiliando a equipe de enfermagem a agir com rapidez e precisão.</a:t>
            </a:r>
          </a:p>
          <a:p>
            <a:pPr>
              <a:lnSpc>
                <a:spcPts val="3325"/>
              </a:lnSpc>
            </a:pPr>
            <a:endParaRPr lang="pt-BR" sz="3200"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  <a:p>
            <a:pPr>
              <a:lnSpc>
                <a:spcPts val="3325"/>
              </a:lnSpc>
            </a:pPr>
            <a:r>
              <a:rPr lang="pt-BR" sz="3200">
                <a:latin typeface="Decalotype Bold" panose="020B0604020202020204" charset="0"/>
              </a:rPr>
              <a:t>Em um ambiente onde segundos salvam vidas, monitorar com precisão não é inovação — é necessidade.</a:t>
            </a:r>
            <a:endParaRPr lang="en-US" sz="3125" b="1">
              <a:solidFill>
                <a:srgbClr val="191919"/>
              </a:solidFill>
              <a:latin typeface="Decalotype Bold" panose="020B0604020202020204" charset="0"/>
              <a:ea typeface="Decalotype Bold"/>
              <a:cs typeface="Decalotype Bold"/>
              <a:sym typeface="Decalotype Bold"/>
            </a:endParaRPr>
          </a:p>
          <a:p>
            <a:pPr>
              <a:lnSpc>
                <a:spcPts val="3325"/>
              </a:lnSpc>
            </a:pPr>
            <a:endParaRPr lang="en-US" sz="3200"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80BE09-6FA1-DDBD-84F8-4DE30DABF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4344"/>
            <a:ext cx="5943600" cy="6160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E763789A-869F-510B-DD6C-3CD8DB2D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DE4869-A51D-8544-8E51-47FD66C6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" y="4045"/>
            <a:ext cx="18281026" cy="10278909"/>
          </a:xfrm>
          <a:prstGeom prst="rect">
            <a:avLst/>
          </a:prstGeom>
        </p:spPr>
      </p:pic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2B9EEBAE-0E30-0424-5B38-34CEFE468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20" y="324464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03075" y="527258"/>
            <a:ext cx="8839200" cy="9654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875"/>
              </a:lnSpc>
            </a:pPr>
            <a:r>
              <a:rPr lang="en-US" sz="9000" b="1" u="none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Site </a:t>
            </a:r>
            <a:r>
              <a:rPr lang="en-US" sz="9000" b="1" u="none" dirty="0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Institucional</a:t>
            </a:r>
            <a:endParaRPr lang="en-US" sz="9000" b="1" u="none" dirty="0">
              <a:solidFill>
                <a:srgbClr val="FFFFFF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  <a:p>
            <a:pPr>
              <a:lnSpc>
                <a:spcPts val="10875"/>
              </a:lnSpc>
            </a:pPr>
            <a:r>
              <a:rPr lang="en-US" sz="9000" b="1" dirty="0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Calculadora</a:t>
            </a:r>
            <a:endParaRPr lang="en-US" sz="9000" b="1" dirty="0" err="1">
              <a:solidFill>
                <a:srgbClr val="FFFFFF"/>
              </a:solidFill>
              <a:latin typeface="Decalotype Bold"/>
              <a:ea typeface="Decalotype Bold"/>
              <a:cs typeface="Decalotype Bold"/>
            </a:endParaRPr>
          </a:p>
          <a:p>
            <a:pPr marL="0" lvl="0" indent="0" algn="l">
              <a:lnSpc>
                <a:spcPts val="10875"/>
              </a:lnSpc>
            </a:pPr>
            <a:r>
              <a:rPr lang="en-US" sz="9000" b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Dashboard</a:t>
            </a:r>
          </a:p>
          <a:p>
            <a:pPr marL="0" lvl="0" indent="0" algn="l">
              <a:lnSpc>
                <a:spcPts val="10875"/>
              </a:lnSpc>
            </a:pPr>
            <a:r>
              <a:rPr lang="en-US" sz="9000" b="1" u="none" dirty="0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Mét</a:t>
            </a:r>
            <a:r>
              <a:rPr lang="en-US" sz="9000" b="1" dirty="0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ricas</a:t>
            </a:r>
            <a:r>
              <a:rPr lang="en-US" sz="9000" b="1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e </a:t>
            </a:r>
            <a:r>
              <a:rPr lang="en-US" sz="9000" b="1" dirty="0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Alértas</a:t>
            </a:r>
            <a:endParaRPr lang="en-US" sz="9000" b="1" u="none" dirty="0">
              <a:solidFill>
                <a:srgbClr val="FFFFFF"/>
              </a:solidFill>
              <a:latin typeface="Decalotype Bold"/>
              <a:ea typeface="Decalotype Bold"/>
              <a:cs typeface="Decalotype Bold"/>
            </a:endParaRPr>
          </a:p>
          <a:p>
            <a:pPr marL="0" lvl="0" indent="0" algn="l">
              <a:lnSpc>
                <a:spcPts val="10875"/>
              </a:lnSpc>
            </a:pPr>
            <a:r>
              <a:rPr lang="en-US" sz="9000" b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Arduino </a:t>
            </a:r>
            <a:endParaRPr lang="en-US" sz="9000" b="1" u="none">
              <a:solidFill>
                <a:srgbClr val="FFFFFF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  <a:p>
            <a:pPr marL="0" lvl="0" indent="0" algn="l">
              <a:lnSpc>
                <a:spcPts val="10875"/>
              </a:lnSpc>
            </a:pPr>
            <a:r>
              <a:rPr lang="en-US" sz="9000" b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Banco de Dados</a:t>
            </a:r>
          </a:p>
          <a:p>
            <a:pPr marL="0" lvl="0" indent="0" algn="l">
              <a:lnSpc>
                <a:spcPts val="10875"/>
              </a:lnSpc>
            </a:pPr>
            <a:r>
              <a:rPr lang="en-US" sz="9000" b="1" dirty="0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Máquina</a:t>
            </a:r>
            <a:r>
              <a:rPr lang="en-US" sz="9000" b="1" dirty="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Virtual</a:t>
            </a:r>
            <a:endParaRPr lang="en-US" sz="9000" b="1" dirty="0">
              <a:solidFill>
                <a:srgbClr val="FFFFFF"/>
              </a:solidFill>
              <a:latin typeface="Decalotype Bold"/>
              <a:ea typeface="Decalotype Bold"/>
              <a:cs typeface="Decalotype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3463362" y="0"/>
            <a:ext cx="4824638" cy="10287000"/>
          </a:xfrm>
          <a:prstGeom prst="rect">
            <a:avLst/>
          </a:prstGeom>
          <a:solidFill>
            <a:srgbClr val="191919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6D33FD1-A15B-C10C-7350-6A52A5EA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777" y="1604467"/>
            <a:ext cx="8745170" cy="70780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38C277D6-3A50-CF58-11F3-5FC2847B4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D7C9E-193C-0373-7210-0084C572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F974D6-8FE3-F8C2-2F2A-6F4A7EAB6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" y="4045"/>
            <a:ext cx="18281026" cy="102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81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6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BD239-5D4D-A450-889E-77C78017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ângulo 62">
            <a:extLst>
              <a:ext uri="{FF2B5EF4-FFF2-40B4-BE49-F238E27FC236}">
                <a16:creationId xmlns:a16="http://schemas.microsoft.com/office/drawing/2014/main" id="{0DC8A7C6-17BB-6553-A9D0-5B6C51A5B2A7}"/>
              </a:ext>
            </a:extLst>
          </p:cNvPr>
          <p:cNvSpPr/>
          <p:nvPr/>
        </p:nvSpPr>
        <p:spPr>
          <a:xfrm>
            <a:off x="-76200" y="-57150"/>
            <a:ext cx="18440400" cy="10401300"/>
          </a:xfrm>
          <a:prstGeom prst="rect">
            <a:avLst/>
          </a:prstGeom>
          <a:solidFill>
            <a:srgbClr val="066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5853B2D-A34E-220B-E851-C764E86DE7E6}"/>
              </a:ext>
            </a:extLst>
          </p:cNvPr>
          <p:cNvSpPr txBox="1"/>
          <p:nvPr/>
        </p:nvSpPr>
        <p:spPr>
          <a:xfrm>
            <a:off x="1291460" y="0"/>
            <a:ext cx="1570508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u="none">
                <a:solidFill>
                  <a:schemeClr val="bg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Ferramentas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EBCF523-E05F-FC6A-C555-C90CCF8E4881}"/>
              </a:ext>
            </a:extLst>
          </p:cNvPr>
          <p:cNvGrpSpPr/>
          <p:nvPr/>
        </p:nvGrpSpPr>
        <p:grpSpPr>
          <a:xfrm>
            <a:off x="6275077" y="1458002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520C1A7-D69A-BCB0-0F5C-958574AFBD4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Retângulo 45">
            <a:extLst>
              <a:ext uri="{FF2B5EF4-FFF2-40B4-BE49-F238E27FC236}">
                <a16:creationId xmlns:a16="http://schemas.microsoft.com/office/drawing/2014/main" id="{858960ED-E611-99C5-A25F-EB32EDC86C8B}"/>
              </a:ext>
            </a:extLst>
          </p:cNvPr>
          <p:cNvSpPr/>
          <p:nvPr/>
        </p:nvSpPr>
        <p:spPr>
          <a:xfrm>
            <a:off x="5219699" y="3431768"/>
            <a:ext cx="3657600" cy="6400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24972D7-EF11-C8A6-4D57-BE5E13E45DAF}"/>
              </a:ext>
            </a:extLst>
          </p:cNvPr>
          <p:cNvSpPr/>
          <p:nvPr/>
        </p:nvSpPr>
        <p:spPr>
          <a:xfrm>
            <a:off x="9410702" y="3431768"/>
            <a:ext cx="3657600" cy="6400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296CA3DB-1D05-894A-54BA-913C21316E69}"/>
              </a:ext>
            </a:extLst>
          </p:cNvPr>
          <p:cNvSpPr/>
          <p:nvPr/>
        </p:nvSpPr>
        <p:spPr>
          <a:xfrm>
            <a:off x="13601705" y="3431768"/>
            <a:ext cx="3657600" cy="64008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9" name="Group 18">
            <a:extLst>
              <a:ext uri="{FF2B5EF4-FFF2-40B4-BE49-F238E27FC236}">
                <a16:creationId xmlns:a16="http://schemas.microsoft.com/office/drawing/2014/main" id="{65F0ABA6-CED6-EBDC-D157-42DF7E4FE73E}"/>
              </a:ext>
            </a:extLst>
          </p:cNvPr>
          <p:cNvGrpSpPr/>
          <p:nvPr/>
        </p:nvGrpSpPr>
        <p:grpSpPr>
          <a:xfrm>
            <a:off x="10466079" y="1447611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B10CEBB-53F7-5AC2-1580-5D5DACE0A1E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18">
            <a:extLst>
              <a:ext uri="{FF2B5EF4-FFF2-40B4-BE49-F238E27FC236}">
                <a16:creationId xmlns:a16="http://schemas.microsoft.com/office/drawing/2014/main" id="{AD8CBD26-7089-4AB3-F867-F0CC7793FB60}"/>
              </a:ext>
            </a:extLst>
          </p:cNvPr>
          <p:cNvGrpSpPr/>
          <p:nvPr/>
        </p:nvGrpSpPr>
        <p:grpSpPr>
          <a:xfrm>
            <a:off x="14657082" y="1376871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FD9F42B7-F92A-85C1-C036-FD24A9CDE7F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18">
            <a:extLst>
              <a:ext uri="{FF2B5EF4-FFF2-40B4-BE49-F238E27FC236}">
                <a16:creationId xmlns:a16="http://schemas.microsoft.com/office/drawing/2014/main" id="{3980A3F3-90DA-884F-8A0C-B57F2324A3E8}"/>
              </a:ext>
            </a:extLst>
          </p:cNvPr>
          <p:cNvGrpSpPr/>
          <p:nvPr/>
        </p:nvGrpSpPr>
        <p:grpSpPr>
          <a:xfrm>
            <a:off x="2084073" y="1398859"/>
            <a:ext cx="1546845" cy="1529725"/>
            <a:chOff x="0" y="0"/>
            <a:chExt cx="6350000" cy="6350000"/>
          </a:xfrm>
          <a:solidFill>
            <a:srgbClr val="EA4B33"/>
          </a:solidFill>
        </p:grpSpPr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7097F8F-BF96-2563-C608-C1BF9A62ABE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6" name="Imagem 55">
            <a:extLst>
              <a:ext uri="{FF2B5EF4-FFF2-40B4-BE49-F238E27FC236}">
                <a16:creationId xmlns:a16="http://schemas.microsoft.com/office/drawing/2014/main" id="{907317BF-6DBB-0427-E457-238E55DBD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95" y="1477921"/>
            <a:ext cx="1371600" cy="1371600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935E97F3-3720-9FE5-2841-81D5D3FEF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99" y="1524605"/>
            <a:ext cx="1371600" cy="137160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EE408AEE-9B4A-721F-38B4-9A27E978EA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1652822"/>
            <a:ext cx="1188720" cy="1188720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010E43A8-238C-FE7F-FD72-FE13D3704A8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144" y="1569361"/>
            <a:ext cx="1188720" cy="1188720"/>
          </a:xfrm>
          <a:prstGeom prst="rect">
            <a:avLst/>
          </a:prstGeom>
        </p:spPr>
      </p:pic>
      <p:sp>
        <p:nvSpPr>
          <p:cNvPr id="64" name="Retângulo 63">
            <a:extLst>
              <a:ext uri="{FF2B5EF4-FFF2-40B4-BE49-F238E27FC236}">
                <a16:creationId xmlns:a16="http://schemas.microsoft.com/office/drawing/2014/main" id="{BC6766CE-2C19-4119-0B16-E6BBD5DB3799}"/>
              </a:ext>
            </a:extLst>
          </p:cNvPr>
          <p:cNvSpPr/>
          <p:nvPr/>
        </p:nvSpPr>
        <p:spPr>
          <a:xfrm>
            <a:off x="1028696" y="3431768"/>
            <a:ext cx="3657600" cy="6400800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05E7859-31DA-7723-A67D-666119CD8620}"/>
              </a:ext>
            </a:extLst>
          </p:cNvPr>
          <p:cNvSpPr txBox="1"/>
          <p:nvPr/>
        </p:nvSpPr>
        <p:spPr>
          <a:xfrm>
            <a:off x="2128448" y="2846993"/>
            <a:ext cx="1458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Trello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C4558133-B5BD-F0B5-712A-AF57CAF26B63}"/>
              </a:ext>
            </a:extLst>
          </p:cNvPr>
          <p:cNvSpPr txBox="1"/>
          <p:nvPr/>
        </p:nvSpPr>
        <p:spPr>
          <a:xfrm>
            <a:off x="6135874" y="2841542"/>
            <a:ext cx="1825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GitHub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314EA7C6-8F9D-BCE6-6D09-9D9F07795224}"/>
              </a:ext>
            </a:extLst>
          </p:cNvPr>
          <p:cNvSpPr txBox="1"/>
          <p:nvPr/>
        </p:nvSpPr>
        <p:spPr>
          <a:xfrm>
            <a:off x="10326876" y="2849521"/>
            <a:ext cx="1825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Teams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DC9359E8-F8F1-A8AF-5488-CB22876CFB27}"/>
              </a:ext>
            </a:extLst>
          </p:cNvPr>
          <p:cNvSpPr txBox="1"/>
          <p:nvPr/>
        </p:nvSpPr>
        <p:spPr>
          <a:xfrm>
            <a:off x="14517879" y="2838827"/>
            <a:ext cx="1825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ublic Sans" panose="020B0604020202020204" charset="0"/>
              </a:rPr>
              <a:t>Notion</a:t>
            </a:r>
            <a:endParaRPr lang="pt-BR" sz="320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pic>
        <p:nvPicPr>
          <p:cNvPr id="4" name="Imagem 3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96055F81-307E-DE36-EB3D-1511E0EBE8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85012" y="444797"/>
            <a:ext cx="1895752" cy="580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EBCDA-F965-AA38-630D-34378696C8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23250" y="3423602"/>
            <a:ext cx="365759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2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614815"/>
          </a:xfrm>
          <a:custGeom>
            <a:avLst/>
            <a:gdLst/>
            <a:ahLst/>
            <a:cxnLst/>
            <a:rect l="l" t="t" r="r" b="b"/>
            <a:pathLst>
              <a:path w="18288000" h="3614815">
                <a:moveTo>
                  <a:pt x="0" y="0"/>
                </a:moveTo>
                <a:lnTo>
                  <a:pt x="18288000" y="0"/>
                </a:lnTo>
                <a:lnTo>
                  <a:pt x="18288000" y="3614815"/>
                </a:lnTo>
                <a:lnTo>
                  <a:pt x="0" y="3614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179698" b="-99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3646091"/>
            <a:ext cx="18288000" cy="667218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828800" y="4688553"/>
            <a:ext cx="14630400" cy="3558367"/>
            <a:chOff x="0" y="-9525"/>
            <a:chExt cx="9362700" cy="4442241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362700" cy="1729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endParaRPr lang="en-US" sz="9000" b="1" u="none">
                <a:solidFill>
                  <a:srgbClr val="191919"/>
                </a:solidFill>
                <a:latin typeface="Decalotype Bold"/>
                <a:ea typeface="Decalotype Bold"/>
                <a:cs typeface="Decalotype Bold"/>
                <a:sym typeface="Decalotype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1318" y="1262849"/>
              <a:ext cx="8340063" cy="316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5"/>
                </a:lnSpc>
              </a:pPr>
              <a:r>
                <a:rPr lang="pt-BR" sz="3200" dirty="0">
                  <a:latin typeface="Public Sans"/>
                </a:rPr>
                <a:t>O projeto </a:t>
              </a:r>
              <a:r>
                <a:rPr lang="pt-BR" sz="3200" b="1" dirty="0" err="1">
                  <a:latin typeface="Public Sans"/>
                </a:rPr>
                <a:t>ThermoTrak</a:t>
              </a:r>
              <a:r>
                <a:rPr lang="pt-BR" sz="3200" dirty="0">
                  <a:latin typeface="Public Sans"/>
                </a:rPr>
                <a:t> propõe uma solução eficiente para o monitoramento contínuo da temperatura em UTIs, reduzindo falhas humanas e permitindo respostas rápidas a variações críticas. Com o uso de tecnologia IoT e automação, contribui para a segurança dos pacientes, otimização do trabalho da equipe de enfermagem e melhoria na qualidade do atendimento hospitalar.</a:t>
              </a:r>
              <a:endParaRPr lang="en-US" sz="3200" dirty="0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81200" y="1019175"/>
            <a:ext cx="1432560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u="none" err="1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Conclusão</a:t>
            </a:r>
            <a:endParaRPr lang="en-US" sz="9000" b="1" u="none">
              <a:solidFill>
                <a:srgbClr val="FFFFFF"/>
              </a:solidFill>
              <a:latin typeface="Decalotype Bold"/>
              <a:ea typeface="Decalotype Bold"/>
              <a:cs typeface="Decalotype Bold"/>
              <a:sym typeface="Decalotype Bold"/>
            </a:endParaRPr>
          </a:p>
        </p:txBody>
      </p:sp>
      <p:pic>
        <p:nvPicPr>
          <p:cNvPr id="5" name="Imagem 4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3B96F963-D146-6ACA-C6F8-1D4C340A0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512" y="532720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628414"/>
            <a:ext cx="9144000" cy="10915414"/>
          </a:xfrm>
          <a:custGeom>
            <a:avLst/>
            <a:gdLst/>
            <a:ahLst/>
            <a:cxnLst/>
            <a:rect l="l" t="t" r="r" b="b"/>
            <a:pathLst>
              <a:path w="9144000" h="10915414">
                <a:moveTo>
                  <a:pt x="0" y="0"/>
                </a:moveTo>
                <a:lnTo>
                  <a:pt x="9144000" y="0"/>
                </a:lnTo>
                <a:lnTo>
                  <a:pt x="9144000" y="10915414"/>
                </a:lnTo>
                <a:lnTo>
                  <a:pt x="0" y="1091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26" r="-703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1160568">
            <a:off x="-711276" y="1512352"/>
            <a:ext cx="12070388" cy="1110838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14812435" y="0"/>
            <a:ext cx="3781770" cy="10287000"/>
            <a:chOff x="0" y="0"/>
            <a:chExt cx="5508059" cy="149827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08059" cy="14982775"/>
            </a:xfrm>
            <a:custGeom>
              <a:avLst/>
              <a:gdLst/>
              <a:ahLst/>
              <a:cxnLst/>
              <a:rect l="l" t="t" r="r" b="b"/>
              <a:pathLst>
                <a:path w="5508059" h="14982775">
                  <a:moveTo>
                    <a:pt x="5508059" y="14982775"/>
                  </a:moveTo>
                  <a:lnTo>
                    <a:pt x="0" y="14982775"/>
                  </a:lnTo>
                  <a:lnTo>
                    <a:pt x="0" y="0"/>
                  </a:lnTo>
                  <a:lnTo>
                    <a:pt x="5508059" y="14982775"/>
                  </a:lnTo>
                  <a:close/>
                </a:path>
              </a:pathLst>
            </a:custGeom>
            <a:solidFill>
              <a:srgbClr val="EA4B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1463681" y="3462681"/>
            <a:ext cx="5333427" cy="8315211"/>
            <a:chOff x="0" y="0"/>
            <a:chExt cx="4381320" cy="68308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1320" cy="6830804"/>
            </a:xfrm>
            <a:custGeom>
              <a:avLst/>
              <a:gdLst/>
              <a:ahLst/>
              <a:cxnLst/>
              <a:rect l="l" t="t" r="r" b="b"/>
              <a:pathLst>
                <a:path w="4381320" h="6830804">
                  <a:moveTo>
                    <a:pt x="4381320" y="6830804"/>
                  </a:moveTo>
                  <a:lnTo>
                    <a:pt x="0" y="6830804"/>
                  </a:lnTo>
                  <a:lnTo>
                    <a:pt x="0" y="0"/>
                  </a:lnTo>
                  <a:lnTo>
                    <a:pt x="4381320" y="6830804"/>
                  </a:lnTo>
                  <a:close/>
                </a:path>
              </a:pathLst>
            </a:custGeom>
            <a:solidFill>
              <a:srgbClr val="05289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3524356"/>
            <a:ext cx="7680254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19"/>
              </a:lnSpc>
              <a:spcBef>
                <a:spcPct val="0"/>
              </a:spcBef>
            </a:pPr>
            <a:r>
              <a:rPr lang="en-US" sz="11100" b="1" u="none">
                <a:solidFill>
                  <a:srgbClr val="191919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Obrigado!</a:t>
            </a:r>
          </a:p>
        </p:txBody>
      </p:sp>
      <p:pic>
        <p:nvPicPr>
          <p:cNvPr id="10" name="Imagem 9" descr="Uma imagem contendo objeto, relógio, trem&#10;&#10;O conteúdo gerado por IA pode estar incorreto.">
            <a:extLst>
              <a:ext uri="{FF2B5EF4-FFF2-40B4-BE49-F238E27FC236}">
                <a16:creationId xmlns:a16="http://schemas.microsoft.com/office/drawing/2014/main" id="{D1286AC2-B7A8-D700-0B63-72E19860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30" y="9416947"/>
            <a:ext cx="1895752" cy="5804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Personalizar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Vendas em Azul e Vermelho com Blocos Diagonais sobre Relatório de Vendas</dc:title>
  <dc:creator>Leaxdro</dc:creator>
  <cp:revision>10</cp:revision>
  <dcterms:created xsi:type="dcterms:W3CDTF">2006-08-16T00:00:00Z</dcterms:created>
  <dcterms:modified xsi:type="dcterms:W3CDTF">2026-04-24T12:25:41Z</dcterms:modified>
  <dc:identifier>DAHG9Msbi38</dc:identifier>
</cp:coreProperties>
</file>